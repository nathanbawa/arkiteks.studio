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ileron" panose="020B0604020202020204" charset="0"/>
      <p:regular r:id="rId16"/>
    </p:embeddedFont>
    <p:embeddedFont>
      <p:font typeface="Aileron Bold" panose="020B0604020202020204" charset="0"/>
      <p:regular r:id="rId17"/>
    </p:embeddedFont>
    <p:embeddedFont>
      <p:font typeface="Barbra SemiCondensed" panose="020B0604020202020204" charset="0"/>
      <p:regular r:id="rId18"/>
    </p:embeddedFont>
    <p:embeddedFont>
      <p:font typeface="Canva Sans" panose="020B0604020202020204" charset="0"/>
      <p:regular r:id="rId19"/>
    </p:embeddedFont>
    <p:embeddedFont>
      <p:font typeface="Canva Sans Bold" panose="020B0604020202020204" charset="0"/>
      <p:regular r:id="rId20"/>
    </p:embeddedFont>
    <p:embeddedFont>
      <p:font typeface="Didact Gothic" panose="00000500000000000000" pitchFamily="2" charset="0"/>
      <p:regular r:id="rId21"/>
    </p:embeddedFont>
    <p:embeddedFont>
      <p:font typeface="ITC Bauhaus Bold" panose="020B0604020202020204" charset="0"/>
      <p:regular r:id="rId22"/>
    </p:embeddedFont>
    <p:embeddedFont>
      <p:font typeface="ITC Bauhaus Light" panose="020B0604020202020204" charset="0"/>
      <p:regular r:id="rId23"/>
    </p:embeddedFont>
    <p:embeddedFont>
      <p:font typeface="Open Sauce Heavy" panose="020B0604020202020204" charset="0"/>
      <p:regular r:id="rId24"/>
    </p:embeddedFont>
    <p:embeddedFont>
      <p:font typeface="TT Norms" panose="020B0604020202020204" charset="0"/>
      <p:regular r:id="rId25"/>
    </p:embeddedFont>
    <p:embeddedFont>
      <p:font typeface="TT Norms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50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svg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3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26153" y="4871355"/>
            <a:ext cx="10433147" cy="3968042"/>
            <a:chOff x="0" y="0"/>
            <a:chExt cx="2621794" cy="9971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21794" cy="997148"/>
            </a:xfrm>
            <a:custGeom>
              <a:avLst/>
              <a:gdLst/>
              <a:ahLst/>
              <a:cxnLst/>
              <a:rect l="l" t="t" r="r" b="b"/>
              <a:pathLst>
                <a:path w="2621794" h="997148">
                  <a:moveTo>
                    <a:pt x="0" y="0"/>
                  </a:moveTo>
                  <a:lnTo>
                    <a:pt x="2621794" y="0"/>
                  </a:lnTo>
                  <a:lnTo>
                    <a:pt x="2621794" y="997148"/>
                  </a:lnTo>
                  <a:lnTo>
                    <a:pt x="0" y="997148"/>
                  </a:lnTo>
                  <a:close/>
                </a:path>
              </a:pathLst>
            </a:custGeom>
            <a:blipFill>
              <a:blip r:embed="rId2"/>
              <a:stretch>
                <a:fillRect t="-147528" b="-48805"/>
              </a:stretch>
            </a:blipFill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1782110"/>
            <a:ext cx="14770284" cy="2374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914"/>
              </a:lnSpc>
            </a:pPr>
            <a:r>
              <a:rPr lang="en-US" sz="16571" b="1" spc="-1325">
                <a:solidFill>
                  <a:srgbClr val="F8F3DD"/>
                </a:solidFill>
                <a:latin typeface="ITC Bauhaus Bold"/>
                <a:ea typeface="ITC Bauhaus Bold"/>
                <a:cs typeface="ITC Bauhaus Bold"/>
                <a:sym typeface="ITC Bauhaus Bold"/>
              </a:rPr>
              <a:t>Arkiteks Studios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917874" y="3781781"/>
            <a:ext cx="8341426" cy="773808"/>
            <a:chOff x="0" y="0"/>
            <a:chExt cx="2196919" cy="2038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6919" cy="203801"/>
            </a:xfrm>
            <a:custGeom>
              <a:avLst/>
              <a:gdLst/>
              <a:ahLst/>
              <a:cxnLst/>
              <a:rect l="l" t="t" r="r" b="b"/>
              <a:pathLst>
                <a:path w="2196919" h="203801">
                  <a:moveTo>
                    <a:pt x="0" y="0"/>
                  </a:moveTo>
                  <a:lnTo>
                    <a:pt x="2196919" y="0"/>
                  </a:lnTo>
                  <a:lnTo>
                    <a:pt x="2196919" y="203801"/>
                  </a:lnTo>
                  <a:lnTo>
                    <a:pt x="0" y="203801"/>
                  </a:lnTo>
                  <a:close/>
                </a:path>
              </a:pathLst>
            </a:custGeom>
            <a:solidFill>
              <a:srgbClr val="F8F3DD"/>
            </a:solidFill>
          </p:spPr>
          <p:txBody>
            <a:bodyPr/>
            <a:lstStyle/>
            <a:p>
              <a:endParaRPr lang="fr-C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96919" cy="2133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97306" y="3732693"/>
            <a:ext cx="5097081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59"/>
              </a:lnSpc>
              <a:spcBef>
                <a:spcPct val="0"/>
              </a:spcBef>
            </a:pPr>
            <a:r>
              <a:rPr lang="en-US" sz="4299" b="1" u="none" strike="noStrik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Nathan bawa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3906747"/>
            <a:ext cx="773053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72"/>
              </a:lnSpc>
              <a:spcBef>
                <a:spcPct val="0"/>
              </a:spcBef>
            </a:pPr>
            <a:r>
              <a:rPr lang="en-US" sz="2977">
                <a:solidFill>
                  <a:srgbClr val="24130B"/>
                </a:solidFill>
                <a:latin typeface="ITC Bauhaus Light"/>
                <a:ea typeface="ITC Bauhaus Light"/>
                <a:cs typeface="ITC Bauhaus Light"/>
                <a:sym typeface="ITC Bauhaus Light"/>
              </a:rPr>
              <a:t> Visitez les espaces avant même qu’ils existent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96045" y="9248775"/>
            <a:ext cx="2563255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Page 01/10</a:t>
            </a:r>
          </a:p>
        </p:txBody>
      </p:sp>
      <p:grpSp>
        <p:nvGrpSpPr>
          <p:cNvPr id="11" name="Group 11"/>
          <p:cNvGrpSpPr/>
          <p:nvPr/>
        </p:nvGrpSpPr>
        <p:grpSpPr>
          <a:xfrm rot="-5400000">
            <a:off x="793576" y="6940978"/>
            <a:ext cx="2177471" cy="1619368"/>
            <a:chOff x="0" y="0"/>
            <a:chExt cx="1532476" cy="11396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32476" cy="1139691"/>
            </a:xfrm>
            <a:custGeom>
              <a:avLst/>
              <a:gdLst/>
              <a:ahLst/>
              <a:cxnLst/>
              <a:rect l="l" t="t" r="r" b="b"/>
              <a:pathLst>
                <a:path w="1532476" h="1139691">
                  <a:moveTo>
                    <a:pt x="181329" y="0"/>
                  </a:moveTo>
                  <a:lnTo>
                    <a:pt x="1351147" y="0"/>
                  </a:lnTo>
                  <a:cubicBezTo>
                    <a:pt x="1451293" y="0"/>
                    <a:pt x="1532476" y="81184"/>
                    <a:pt x="1532476" y="181329"/>
                  </a:cubicBezTo>
                  <a:lnTo>
                    <a:pt x="1532476" y="958362"/>
                  </a:lnTo>
                  <a:cubicBezTo>
                    <a:pt x="1532476" y="1006453"/>
                    <a:pt x="1513372" y="1052575"/>
                    <a:pt x="1479366" y="1086581"/>
                  </a:cubicBezTo>
                  <a:cubicBezTo>
                    <a:pt x="1445361" y="1120586"/>
                    <a:pt x="1399239" y="1139691"/>
                    <a:pt x="1351147" y="1139691"/>
                  </a:cubicBezTo>
                  <a:lnTo>
                    <a:pt x="181329" y="1139691"/>
                  </a:lnTo>
                  <a:cubicBezTo>
                    <a:pt x="133237" y="1139691"/>
                    <a:pt x="87116" y="1120586"/>
                    <a:pt x="53110" y="1086581"/>
                  </a:cubicBezTo>
                  <a:cubicBezTo>
                    <a:pt x="19104" y="1052575"/>
                    <a:pt x="0" y="1006453"/>
                    <a:pt x="0" y="958362"/>
                  </a:cubicBezTo>
                  <a:lnTo>
                    <a:pt x="0" y="181329"/>
                  </a:lnTo>
                  <a:cubicBezTo>
                    <a:pt x="0" y="133237"/>
                    <a:pt x="19104" y="87116"/>
                    <a:pt x="53110" y="53110"/>
                  </a:cubicBezTo>
                  <a:cubicBezTo>
                    <a:pt x="87116" y="19104"/>
                    <a:pt x="133237" y="0"/>
                    <a:pt x="181329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fr-C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32476" cy="1177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97306" y="8140092"/>
            <a:ext cx="1510225" cy="512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5"/>
              </a:lnSpc>
              <a:spcBef>
                <a:spcPct val="0"/>
              </a:spcBef>
            </a:pPr>
            <a:r>
              <a:rPr lang="en-US" sz="2811">
                <a:solidFill>
                  <a:srgbClr val="F8F3DD"/>
                </a:solidFill>
                <a:latin typeface="Barbra SemiCondensed"/>
                <a:ea typeface="Barbra SemiCondensed"/>
                <a:cs typeface="Barbra SemiCondensed"/>
                <a:sym typeface="Barbra SemiCondensed"/>
              </a:rPr>
              <a:t>STUDIOS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7064113"/>
            <a:ext cx="1647438" cy="122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3"/>
              </a:lnSpc>
            </a:pPr>
            <a:r>
              <a:rPr lang="en-US" sz="6766" spc="-378">
                <a:gradFill>
                  <a:gsLst>
                    <a:gs pos="0">
                      <a:srgbClr val="FEFFFF">
                        <a:alpha val="100000"/>
                      </a:srgbClr>
                    </a:gs>
                    <a:gs pos="100000">
                      <a:srgbClr val="C5C5C5">
                        <a:alpha val="100000"/>
                      </a:srgbClr>
                    </a:gs>
                  </a:gsLst>
                  <a:lin ang="5400000"/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ARK</a:t>
            </a:r>
          </a:p>
        </p:txBody>
      </p:sp>
      <p:sp>
        <p:nvSpPr>
          <p:cNvPr id="16" name="Freeform 16"/>
          <p:cNvSpPr/>
          <p:nvPr/>
        </p:nvSpPr>
        <p:spPr>
          <a:xfrm rot="-10800000">
            <a:off x="1497576" y="6903622"/>
            <a:ext cx="769470" cy="377040"/>
          </a:xfrm>
          <a:custGeom>
            <a:avLst/>
            <a:gdLst/>
            <a:ahLst/>
            <a:cxnLst/>
            <a:rect l="l" t="t" r="r" b="b"/>
            <a:pathLst>
              <a:path w="769470" h="377040">
                <a:moveTo>
                  <a:pt x="0" y="0"/>
                </a:moveTo>
                <a:lnTo>
                  <a:pt x="769470" y="0"/>
                </a:lnTo>
                <a:lnTo>
                  <a:pt x="769470" y="377041"/>
                </a:lnTo>
                <a:lnTo>
                  <a:pt x="0" y="3770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A"/>
          </a:p>
        </p:txBody>
      </p:sp>
      <p:sp>
        <p:nvSpPr>
          <p:cNvPr id="17" name="Freeform 17"/>
          <p:cNvSpPr/>
          <p:nvPr/>
        </p:nvSpPr>
        <p:spPr>
          <a:xfrm>
            <a:off x="2895006" y="7383690"/>
            <a:ext cx="377846" cy="377846"/>
          </a:xfrm>
          <a:custGeom>
            <a:avLst/>
            <a:gdLst/>
            <a:ahLst/>
            <a:cxnLst/>
            <a:rect l="l" t="t" r="r" b="b"/>
            <a:pathLst>
              <a:path w="377846" h="377846">
                <a:moveTo>
                  <a:pt x="0" y="0"/>
                </a:moveTo>
                <a:lnTo>
                  <a:pt x="377846" y="0"/>
                </a:lnTo>
                <a:lnTo>
                  <a:pt x="377846" y="377846"/>
                </a:lnTo>
                <a:lnTo>
                  <a:pt x="0" y="377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A"/>
          </a:p>
        </p:txBody>
      </p:sp>
      <p:sp>
        <p:nvSpPr>
          <p:cNvPr id="18" name="Freeform 18"/>
          <p:cNvSpPr/>
          <p:nvPr/>
        </p:nvSpPr>
        <p:spPr>
          <a:xfrm>
            <a:off x="2903191" y="7820576"/>
            <a:ext cx="369661" cy="369661"/>
          </a:xfrm>
          <a:custGeom>
            <a:avLst/>
            <a:gdLst/>
            <a:ahLst/>
            <a:cxnLst/>
            <a:rect l="l" t="t" r="r" b="b"/>
            <a:pathLst>
              <a:path w="369661" h="369661">
                <a:moveTo>
                  <a:pt x="0" y="0"/>
                </a:moveTo>
                <a:lnTo>
                  <a:pt x="369661" y="0"/>
                </a:lnTo>
                <a:lnTo>
                  <a:pt x="369661" y="369661"/>
                </a:lnTo>
                <a:lnTo>
                  <a:pt x="0" y="369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A"/>
          </a:p>
        </p:txBody>
      </p:sp>
      <p:sp>
        <p:nvSpPr>
          <p:cNvPr id="19" name="Freeform 19"/>
          <p:cNvSpPr/>
          <p:nvPr/>
        </p:nvSpPr>
        <p:spPr>
          <a:xfrm>
            <a:off x="2934981" y="8318660"/>
            <a:ext cx="390637" cy="333994"/>
          </a:xfrm>
          <a:custGeom>
            <a:avLst/>
            <a:gdLst/>
            <a:ahLst/>
            <a:cxnLst/>
            <a:rect l="l" t="t" r="r" b="b"/>
            <a:pathLst>
              <a:path w="390637" h="333994">
                <a:moveTo>
                  <a:pt x="0" y="0"/>
                </a:moveTo>
                <a:lnTo>
                  <a:pt x="390637" y="0"/>
                </a:lnTo>
                <a:lnTo>
                  <a:pt x="390637" y="333995"/>
                </a:lnTo>
                <a:lnTo>
                  <a:pt x="0" y="333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A"/>
          </a:p>
        </p:txBody>
      </p:sp>
      <p:sp>
        <p:nvSpPr>
          <p:cNvPr id="20" name="TextBox 20"/>
          <p:cNvSpPr txBox="1"/>
          <p:nvPr/>
        </p:nvSpPr>
        <p:spPr>
          <a:xfrm>
            <a:off x="3384528" y="7386662"/>
            <a:ext cx="3222378" cy="333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arkiteks.studios@gmail.com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384528" y="7801526"/>
            <a:ext cx="2244235" cy="330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@arkiteks.studios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14688" y="8290085"/>
            <a:ext cx="1472730" cy="333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nathan-bawa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3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3215" y="4834585"/>
            <a:ext cx="2450138" cy="2450138"/>
          </a:xfrm>
          <a:custGeom>
            <a:avLst/>
            <a:gdLst/>
            <a:ahLst/>
            <a:cxnLst/>
            <a:rect l="l" t="t" r="r" b="b"/>
            <a:pathLst>
              <a:path w="2450138" h="2450138">
                <a:moveTo>
                  <a:pt x="0" y="0"/>
                </a:moveTo>
                <a:lnTo>
                  <a:pt x="2450138" y="0"/>
                </a:lnTo>
                <a:lnTo>
                  <a:pt x="2450138" y="2450138"/>
                </a:lnTo>
                <a:lnTo>
                  <a:pt x="0" y="2450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CA"/>
          </a:p>
        </p:txBody>
      </p:sp>
      <p:grpSp>
        <p:nvGrpSpPr>
          <p:cNvPr id="3" name="Group 3"/>
          <p:cNvGrpSpPr/>
          <p:nvPr/>
        </p:nvGrpSpPr>
        <p:grpSpPr>
          <a:xfrm>
            <a:off x="3568632" y="3372818"/>
            <a:ext cx="5576973" cy="6152182"/>
            <a:chOff x="0" y="0"/>
            <a:chExt cx="1468832" cy="16203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8832" cy="1620328"/>
            </a:xfrm>
            <a:custGeom>
              <a:avLst/>
              <a:gdLst/>
              <a:ahLst/>
              <a:cxnLst/>
              <a:rect l="l" t="t" r="r" b="b"/>
              <a:pathLst>
                <a:path w="1468832" h="1620328">
                  <a:moveTo>
                    <a:pt x="70798" y="0"/>
                  </a:moveTo>
                  <a:lnTo>
                    <a:pt x="1398035" y="0"/>
                  </a:lnTo>
                  <a:cubicBezTo>
                    <a:pt x="1437135" y="0"/>
                    <a:pt x="1468832" y="31697"/>
                    <a:pt x="1468832" y="70798"/>
                  </a:cubicBezTo>
                  <a:lnTo>
                    <a:pt x="1468832" y="1549530"/>
                  </a:lnTo>
                  <a:cubicBezTo>
                    <a:pt x="1468832" y="1568307"/>
                    <a:pt x="1461373" y="1586314"/>
                    <a:pt x="1448096" y="1599591"/>
                  </a:cubicBezTo>
                  <a:cubicBezTo>
                    <a:pt x="1434819" y="1612869"/>
                    <a:pt x="1416811" y="1620328"/>
                    <a:pt x="1398035" y="1620328"/>
                  </a:cubicBezTo>
                  <a:lnTo>
                    <a:pt x="70798" y="1620328"/>
                  </a:lnTo>
                  <a:cubicBezTo>
                    <a:pt x="31697" y="1620328"/>
                    <a:pt x="0" y="1588630"/>
                    <a:pt x="0" y="1549530"/>
                  </a:cubicBezTo>
                  <a:lnTo>
                    <a:pt x="0" y="70798"/>
                  </a:lnTo>
                  <a:cubicBezTo>
                    <a:pt x="0" y="31697"/>
                    <a:pt x="31697" y="0"/>
                    <a:pt x="70798" y="0"/>
                  </a:cubicBezTo>
                  <a:close/>
                </a:path>
              </a:pathLst>
            </a:custGeom>
            <a:solidFill>
              <a:srgbClr val="68523F"/>
            </a:solidFill>
          </p:spPr>
          <p:txBody>
            <a:bodyPr/>
            <a:lstStyle/>
            <a:p>
              <a:endParaRPr lang="fr-C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68832" cy="1658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204721" y="3690450"/>
            <a:ext cx="4304795" cy="5516919"/>
          </a:xfrm>
          <a:custGeom>
            <a:avLst/>
            <a:gdLst/>
            <a:ahLst/>
            <a:cxnLst/>
            <a:rect l="l" t="t" r="r" b="b"/>
            <a:pathLst>
              <a:path w="4304795" h="5516919">
                <a:moveTo>
                  <a:pt x="0" y="0"/>
                </a:moveTo>
                <a:lnTo>
                  <a:pt x="4304795" y="0"/>
                </a:lnTo>
                <a:lnTo>
                  <a:pt x="4304795" y="5516919"/>
                </a:lnTo>
                <a:lnTo>
                  <a:pt x="0" y="5516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668" b="-19668"/>
            </a:stretch>
          </a:blipFill>
        </p:spPr>
        <p:txBody>
          <a:bodyPr/>
          <a:lstStyle/>
          <a:p>
            <a:endParaRPr lang="fr-CA"/>
          </a:p>
        </p:txBody>
      </p:sp>
      <p:grpSp>
        <p:nvGrpSpPr>
          <p:cNvPr id="7" name="Group 7"/>
          <p:cNvGrpSpPr/>
          <p:nvPr/>
        </p:nvGrpSpPr>
        <p:grpSpPr>
          <a:xfrm>
            <a:off x="9643584" y="3372818"/>
            <a:ext cx="5576973" cy="6152182"/>
            <a:chOff x="0" y="0"/>
            <a:chExt cx="1468832" cy="16203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8832" cy="1620328"/>
            </a:xfrm>
            <a:custGeom>
              <a:avLst/>
              <a:gdLst/>
              <a:ahLst/>
              <a:cxnLst/>
              <a:rect l="l" t="t" r="r" b="b"/>
              <a:pathLst>
                <a:path w="1468832" h="1620328">
                  <a:moveTo>
                    <a:pt x="70798" y="0"/>
                  </a:moveTo>
                  <a:lnTo>
                    <a:pt x="1398035" y="0"/>
                  </a:lnTo>
                  <a:cubicBezTo>
                    <a:pt x="1437135" y="0"/>
                    <a:pt x="1468832" y="31697"/>
                    <a:pt x="1468832" y="70798"/>
                  </a:cubicBezTo>
                  <a:lnTo>
                    <a:pt x="1468832" y="1549530"/>
                  </a:lnTo>
                  <a:cubicBezTo>
                    <a:pt x="1468832" y="1568307"/>
                    <a:pt x="1461373" y="1586314"/>
                    <a:pt x="1448096" y="1599591"/>
                  </a:cubicBezTo>
                  <a:cubicBezTo>
                    <a:pt x="1434819" y="1612869"/>
                    <a:pt x="1416811" y="1620328"/>
                    <a:pt x="1398035" y="1620328"/>
                  </a:cubicBezTo>
                  <a:lnTo>
                    <a:pt x="70798" y="1620328"/>
                  </a:lnTo>
                  <a:cubicBezTo>
                    <a:pt x="31697" y="1620328"/>
                    <a:pt x="0" y="1588630"/>
                    <a:pt x="0" y="1549530"/>
                  </a:cubicBezTo>
                  <a:lnTo>
                    <a:pt x="0" y="70798"/>
                  </a:lnTo>
                  <a:cubicBezTo>
                    <a:pt x="0" y="31697"/>
                    <a:pt x="31697" y="0"/>
                    <a:pt x="70798" y="0"/>
                  </a:cubicBezTo>
                  <a:close/>
                </a:path>
              </a:pathLst>
            </a:custGeom>
            <a:solidFill>
              <a:srgbClr val="68523F"/>
            </a:solidFill>
          </p:spPr>
          <p:txBody>
            <a:bodyPr/>
            <a:lstStyle/>
            <a:p>
              <a:endParaRPr lang="fr-C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468832" cy="1658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649182" y="4834585"/>
            <a:ext cx="2301577" cy="2301577"/>
          </a:xfrm>
          <a:custGeom>
            <a:avLst/>
            <a:gdLst/>
            <a:ahLst/>
            <a:cxnLst/>
            <a:rect l="l" t="t" r="r" b="b"/>
            <a:pathLst>
              <a:path w="2301577" h="2301577">
                <a:moveTo>
                  <a:pt x="0" y="0"/>
                </a:moveTo>
                <a:lnTo>
                  <a:pt x="2301577" y="0"/>
                </a:lnTo>
                <a:lnTo>
                  <a:pt x="2301577" y="2301577"/>
                </a:lnTo>
                <a:lnTo>
                  <a:pt x="0" y="2301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A"/>
          </a:p>
        </p:txBody>
      </p:sp>
      <p:sp>
        <p:nvSpPr>
          <p:cNvPr id="11" name="TextBox 11"/>
          <p:cNvSpPr txBox="1"/>
          <p:nvPr/>
        </p:nvSpPr>
        <p:spPr>
          <a:xfrm>
            <a:off x="1177382" y="4288395"/>
            <a:ext cx="1481802" cy="36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6"/>
              </a:lnSpc>
            </a:pPr>
            <a:r>
              <a:rPr lang="en-US" sz="2133" spc="85">
                <a:solidFill>
                  <a:srgbClr val="F8F3DD"/>
                </a:solidFill>
                <a:latin typeface="Didact Gothic"/>
                <a:ea typeface="Didact Gothic"/>
                <a:cs typeface="Didact Gothic"/>
                <a:sym typeface="Didact Gothic"/>
              </a:rPr>
              <a:t> la designer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73954" y="7891517"/>
            <a:ext cx="47625" cy="315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2"/>
              </a:lnSpc>
            </a:pPr>
            <a:r>
              <a:rPr lang="en-US" sz="1837" spc="73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64598" y="1876334"/>
            <a:ext cx="4644918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8F3D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 que la designer vous propose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09611" y="1876334"/>
            <a:ext cx="4644918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8F3D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Qu'est-ce que cela implique 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50480" y="3734697"/>
            <a:ext cx="4644918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F8F3D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Combien de personnes est-ce que je pourrais accueillir 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50480" y="5807455"/>
            <a:ext cx="4644918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F8F3D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Est-ce que l'îlot n'est pas trop grand ?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50480" y="7316850"/>
            <a:ext cx="4644918" cy="166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4"/>
              </a:lnSpc>
            </a:pPr>
            <a:r>
              <a:rPr lang="en-US" sz="3196" b="1">
                <a:solidFill>
                  <a:srgbClr val="F8F3D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Est-ce que ce matériau rendra vraiment bien chez moi 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511839" y="4198916"/>
            <a:ext cx="576262" cy="355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6"/>
              </a:lnSpc>
            </a:pPr>
            <a:r>
              <a:rPr lang="en-US" sz="2133" spc="85">
                <a:solidFill>
                  <a:srgbClr val="F8F3DD"/>
                </a:solidFill>
                <a:latin typeface="Didact Gothic"/>
                <a:ea typeface="Didact Gothic"/>
                <a:cs typeface="Didact Gothic"/>
                <a:sym typeface="Didact Gothic"/>
              </a:rPr>
              <a:t>vous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93294" y="61848"/>
            <a:ext cx="10301411" cy="141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8"/>
              </a:lnSpc>
            </a:pPr>
            <a:r>
              <a:rPr lang="en-US" sz="6000" b="1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QUEL EST LE PROBLÈME ?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91950" y="263815"/>
            <a:ext cx="1326334" cy="1736345"/>
            <a:chOff x="0" y="0"/>
            <a:chExt cx="1768445" cy="2315126"/>
          </a:xfrm>
        </p:grpSpPr>
        <p:grpSp>
          <p:nvGrpSpPr>
            <p:cNvPr id="21" name="Group 21"/>
            <p:cNvGrpSpPr/>
            <p:nvPr/>
          </p:nvGrpSpPr>
          <p:grpSpPr>
            <a:xfrm rot="-5400000">
              <a:off x="-249988" y="296692"/>
              <a:ext cx="2315126" cy="1721741"/>
              <a:chOff x="0" y="0"/>
              <a:chExt cx="1532476" cy="113969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532476" cy="1139691"/>
              </a:xfrm>
              <a:custGeom>
                <a:avLst/>
                <a:gdLst/>
                <a:ahLst/>
                <a:cxnLst/>
                <a:rect l="l" t="t" r="r" b="b"/>
                <a:pathLst>
                  <a:path w="1532476" h="1139691">
                    <a:moveTo>
                      <a:pt x="227396" y="0"/>
                    </a:moveTo>
                    <a:lnTo>
                      <a:pt x="1305080" y="0"/>
                    </a:lnTo>
                    <a:cubicBezTo>
                      <a:pt x="1430667" y="0"/>
                      <a:pt x="1532476" y="101809"/>
                      <a:pt x="1532476" y="227396"/>
                    </a:cubicBezTo>
                    <a:lnTo>
                      <a:pt x="1532476" y="912295"/>
                    </a:lnTo>
                    <a:cubicBezTo>
                      <a:pt x="1532476" y="972604"/>
                      <a:pt x="1508518" y="1030443"/>
                      <a:pt x="1465873" y="1073088"/>
                    </a:cubicBezTo>
                    <a:cubicBezTo>
                      <a:pt x="1423228" y="1115733"/>
                      <a:pt x="1365389" y="1139691"/>
                      <a:pt x="1305080" y="1139691"/>
                    </a:cubicBezTo>
                    <a:lnTo>
                      <a:pt x="227396" y="1139691"/>
                    </a:lnTo>
                    <a:cubicBezTo>
                      <a:pt x="167087" y="1139691"/>
                      <a:pt x="109248" y="1115733"/>
                      <a:pt x="66603" y="1073088"/>
                    </a:cubicBezTo>
                    <a:cubicBezTo>
                      <a:pt x="23958" y="1030443"/>
                      <a:pt x="0" y="972604"/>
                      <a:pt x="0" y="912295"/>
                    </a:cubicBezTo>
                    <a:lnTo>
                      <a:pt x="0" y="227396"/>
                    </a:lnTo>
                    <a:cubicBezTo>
                      <a:pt x="0" y="167087"/>
                      <a:pt x="23958" y="109248"/>
                      <a:pt x="66603" y="66603"/>
                    </a:cubicBezTo>
                    <a:cubicBezTo>
                      <a:pt x="109248" y="23958"/>
                      <a:pt x="167087" y="0"/>
                      <a:pt x="227396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532476" cy="11777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72943" y="1605607"/>
              <a:ext cx="1605699" cy="510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8"/>
                </a:lnSpc>
                <a:spcBef>
                  <a:spcPct val="0"/>
                </a:spcBef>
              </a:pPr>
              <a:r>
                <a:rPr lang="en-US" sz="2241">
                  <a:solidFill>
                    <a:srgbClr val="F8F3DD"/>
                  </a:soli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STUDIOS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468229"/>
              <a:ext cx="1751585" cy="1258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554"/>
                </a:lnSpc>
              </a:pPr>
              <a:r>
                <a:rPr lang="en-US" sz="5395" spc="-302">
                  <a:gradFill>
                    <a:gsLst>
                      <a:gs pos="0">
                        <a:srgbClr val="FEFFFF">
                          <a:alpha val="100000"/>
                        </a:srgbClr>
                      </a:gs>
                      <a:gs pos="100000">
                        <a:srgbClr val="C5C5C5">
                          <a:alpha val="100000"/>
                        </a:srgbClr>
                      </a:gs>
                    </a:gsLst>
                    <a:lin ang="5400000"/>
                  </a:gra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ARK</a:t>
              </a:r>
            </a:p>
          </p:txBody>
        </p:sp>
        <p:sp>
          <p:nvSpPr>
            <p:cNvPr id="26" name="Freeform 26"/>
            <p:cNvSpPr/>
            <p:nvPr/>
          </p:nvSpPr>
          <p:spPr>
            <a:xfrm rot="-10800000">
              <a:off x="498517" y="256975"/>
              <a:ext cx="818115" cy="400876"/>
            </a:xfrm>
            <a:custGeom>
              <a:avLst/>
              <a:gdLst/>
              <a:ahLst/>
              <a:cxnLst/>
              <a:rect l="l" t="t" r="r" b="b"/>
              <a:pathLst>
                <a:path w="818115" h="400876">
                  <a:moveTo>
                    <a:pt x="0" y="0"/>
                  </a:moveTo>
                  <a:lnTo>
                    <a:pt x="818115" y="0"/>
                  </a:lnTo>
                  <a:lnTo>
                    <a:pt x="818115" y="400876"/>
                  </a:lnTo>
                  <a:lnTo>
                    <a:pt x="0" y="400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CA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3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77" y="1695797"/>
            <a:ext cx="9142268" cy="753016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1692" y="1585345"/>
            <a:ext cx="10467698" cy="722941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993294" y="61848"/>
            <a:ext cx="10301411" cy="141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8"/>
              </a:lnSpc>
            </a:pPr>
            <a:r>
              <a:rPr lang="en-US" sz="6000" b="1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QUEL EST LE PROBLÈME ?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91950" y="263815"/>
            <a:ext cx="1326334" cy="1736345"/>
            <a:chOff x="0" y="0"/>
            <a:chExt cx="1768445" cy="2315126"/>
          </a:xfrm>
        </p:grpSpPr>
        <p:grpSp>
          <p:nvGrpSpPr>
            <p:cNvPr id="6" name="Group 6"/>
            <p:cNvGrpSpPr/>
            <p:nvPr/>
          </p:nvGrpSpPr>
          <p:grpSpPr>
            <a:xfrm rot="-5400000">
              <a:off x="-249988" y="296692"/>
              <a:ext cx="2315126" cy="1721741"/>
              <a:chOff x="0" y="0"/>
              <a:chExt cx="1532476" cy="113969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532476" cy="1139691"/>
              </a:xfrm>
              <a:custGeom>
                <a:avLst/>
                <a:gdLst/>
                <a:ahLst/>
                <a:cxnLst/>
                <a:rect l="l" t="t" r="r" b="b"/>
                <a:pathLst>
                  <a:path w="1532476" h="1139691">
                    <a:moveTo>
                      <a:pt x="227396" y="0"/>
                    </a:moveTo>
                    <a:lnTo>
                      <a:pt x="1305080" y="0"/>
                    </a:lnTo>
                    <a:cubicBezTo>
                      <a:pt x="1430667" y="0"/>
                      <a:pt x="1532476" y="101809"/>
                      <a:pt x="1532476" y="227396"/>
                    </a:cubicBezTo>
                    <a:lnTo>
                      <a:pt x="1532476" y="912295"/>
                    </a:lnTo>
                    <a:cubicBezTo>
                      <a:pt x="1532476" y="972604"/>
                      <a:pt x="1508518" y="1030443"/>
                      <a:pt x="1465873" y="1073088"/>
                    </a:cubicBezTo>
                    <a:cubicBezTo>
                      <a:pt x="1423228" y="1115733"/>
                      <a:pt x="1365389" y="1139691"/>
                      <a:pt x="1305080" y="1139691"/>
                    </a:cubicBezTo>
                    <a:lnTo>
                      <a:pt x="227396" y="1139691"/>
                    </a:lnTo>
                    <a:cubicBezTo>
                      <a:pt x="167087" y="1139691"/>
                      <a:pt x="109248" y="1115733"/>
                      <a:pt x="66603" y="1073088"/>
                    </a:cubicBezTo>
                    <a:cubicBezTo>
                      <a:pt x="23958" y="1030443"/>
                      <a:pt x="0" y="972604"/>
                      <a:pt x="0" y="912295"/>
                    </a:cubicBezTo>
                    <a:lnTo>
                      <a:pt x="0" y="227396"/>
                    </a:lnTo>
                    <a:cubicBezTo>
                      <a:pt x="0" y="167087"/>
                      <a:pt x="23958" y="109248"/>
                      <a:pt x="66603" y="66603"/>
                    </a:cubicBezTo>
                    <a:cubicBezTo>
                      <a:pt x="109248" y="23958"/>
                      <a:pt x="167087" y="0"/>
                      <a:pt x="227396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532476" cy="11777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72943" y="1605607"/>
              <a:ext cx="1605699" cy="510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8"/>
                </a:lnSpc>
                <a:spcBef>
                  <a:spcPct val="0"/>
                </a:spcBef>
              </a:pPr>
              <a:r>
                <a:rPr lang="en-US" sz="2241">
                  <a:solidFill>
                    <a:srgbClr val="F8F3DD"/>
                  </a:soli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STUDIOS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68229"/>
              <a:ext cx="1751585" cy="1258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554"/>
                </a:lnSpc>
              </a:pPr>
              <a:r>
                <a:rPr lang="en-US" sz="5395" spc="-302">
                  <a:gradFill>
                    <a:gsLst>
                      <a:gs pos="0">
                        <a:srgbClr val="FEFFFF">
                          <a:alpha val="100000"/>
                        </a:srgbClr>
                      </a:gs>
                      <a:gs pos="100000">
                        <a:srgbClr val="C5C5C5">
                          <a:alpha val="100000"/>
                        </a:srgbClr>
                      </a:gs>
                    </a:gsLst>
                    <a:lin ang="5400000"/>
                  </a:gra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ARK</a:t>
              </a:r>
            </a:p>
          </p:txBody>
        </p:sp>
        <p:sp>
          <p:nvSpPr>
            <p:cNvPr id="11" name="Freeform 11"/>
            <p:cNvSpPr/>
            <p:nvPr/>
          </p:nvSpPr>
          <p:spPr>
            <a:xfrm rot="-10800000">
              <a:off x="498517" y="256975"/>
              <a:ext cx="818115" cy="400876"/>
            </a:xfrm>
            <a:custGeom>
              <a:avLst/>
              <a:gdLst/>
              <a:ahLst/>
              <a:cxnLst/>
              <a:rect l="l" t="t" r="r" b="b"/>
              <a:pathLst>
                <a:path w="818115" h="400876">
                  <a:moveTo>
                    <a:pt x="0" y="0"/>
                  </a:moveTo>
                  <a:lnTo>
                    <a:pt x="818115" y="0"/>
                  </a:lnTo>
                  <a:lnTo>
                    <a:pt x="818115" y="400876"/>
                  </a:lnTo>
                  <a:lnTo>
                    <a:pt x="0" y="400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CA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3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75623" y="2012664"/>
            <a:ext cx="5217620" cy="3280760"/>
          </a:xfrm>
          <a:custGeom>
            <a:avLst/>
            <a:gdLst/>
            <a:ahLst/>
            <a:cxnLst/>
            <a:rect l="l" t="t" r="r" b="b"/>
            <a:pathLst>
              <a:path w="5217620" h="3280760">
                <a:moveTo>
                  <a:pt x="0" y="0"/>
                </a:moveTo>
                <a:lnTo>
                  <a:pt x="5217620" y="0"/>
                </a:lnTo>
                <a:lnTo>
                  <a:pt x="5217620" y="3280759"/>
                </a:lnTo>
                <a:lnTo>
                  <a:pt x="0" y="3280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945" r="-9782" b="-260581"/>
            </a:stretch>
          </a:blipFill>
        </p:spPr>
        <p:txBody>
          <a:bodyPr/>
          <a:lstStyle/>
          <a:p>
            <a:endParaRPr lang="fr-CA"/>
          </a:p>
        </p:txBody>
      </p:sp>
      <p:grpSp>
        <p:nvGrpSpPr>
          <p:cNvPr id="3" name="Group 3"/>
          <p:cNvGrpSpPr/>
          <p:nvPr/>
        </p:nvGrpSpPr>
        <p:grpSpPr>
          <a:xfrm>
            <a:off x="12772351" y="5804102"/>
            <a:ext cx="3289533" cy="3731806"/>
            <a:chOff x="0" y="0"/>
            <a:chExt cx="825375" cy="936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25375" cy="936346"/>
            </a:xfrm>
            <a:custGeom>
              <a:avLst/>
              <a:gdLst/>
              <a:ahLst/>
              <a:cxnLst/>
              <a:rect l="l" t="t" r="r" b="b"/>
              <a:pathLst>
                <a:path w="825375" h="936346">
                  <a:moveTo>
                    <a:pt x="28242" y="0"/>
                  </a:moveTo>
                  <a:lnTo>
                    <a:pt x="797133" y="0"/>
                  </a:lnTo>
                  <a:cubicBezTo>
                    <a:pt x="812731" y="0"/>
                    <a:pt x="825375" y="12644"/>
                    <a:pt x="825375" y="28242"/>
                  </a:cubicBezTo>
                  <a:lnTo>
                    <a:pt x="825375" y="908104"/>
                  </a:lnTo>
                  <a:cubicBezTo>
                    <a:pt x="825375" y="923702"/>
                    <a:pt x="812731" y="936346"/>
                    <a:pt x="797133" y="936346"/>
                  </a:cubicBezTo>
                  <a:lnTo>
                    <a:pt x="28242" y="936346"/>
                  </a:lnTo>
                  <a:cubicBezTo>
                    <a:pt x="20752" y="936346"/>
                    <a:pt x="13568" y="933371"/>
                    <a:pt x="8272" y="928074"/>
                  </a:cubicBezTo>
                  <a:cubicBezTo>
                    <a:pt x="2975" y="922778"/>
                    <a:pt x="0" y="915594"/>
                    <a:pt x="0" y="908104"/>
                  </a:cubicBezTo>
                  <a:lnTo>
                    <a:pt x="0" y="28242"/>
                  </a:lnTo>
                  <a:cubicBezTo>
                    <a:pt x="0" y="12644"/>
                    <a:pt x="12644" y="0"/>
                    <a:pt x="28242" y="0"/>
                  </a:cubicBezTo>
                  <a:close/>
                </a:path>
              </a:pathLst>
            </a:custGeom>
            <a:solidFill>
              <a:srgbClr val="F4F0ED"/>
            </a:solidFill>
          </p:spPr>
          <p:txBody>
            <a:bodyPr/>
            <a:lstStyle/>
            <a:p>
              <a:endParaRPr lang="fr-C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25375" cy="974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56939" y="5824885"/>
            <a:ext cx="3289533" cy="3731806"/>
            <a:chOff x="0" y="0"/>
            <a:chExt cx="825375" cy="9363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5375" cy="936346"/>
            </a:xfrm>
            <a:custGeom>
              <a:avLst/>
              <a:gdLst/>
              <a:ahLst/>
              <a:cxnLst/>
              <a:rect l="l" t="t" r="r" b="b"/>
              <a:pathLst>
                <a:path w="825375" h="936346">
                  <a:moveTo>
                    <a:pt x="28242" y="0"/>
                  </a:moveTo>
                  <a:lnTo>
                    <a:pt x="797133" y="0"/>
                  </a:lnTo>
                  <a:cubicBezTo>
                    <a:pt x="812731" y="0"/>
                    <a:pt x="825375" y="12644"/>
                    <a:pt x="825375" y="28242"/>
                  </a:cubicBezTo>
                  <a:lnTo>
                    <a:pt x="825375" y="908104"/>
                  </a:lnTo>
                  <a:cubicBezTo>
                    <a:pt x="825375" y="923702"/>
                    <a:pt x="812731" y="936346"/>
                    <a:pt x="797133" y="936346"/>
                  </a:cubicBezTo>
                  <a:lnTo>
                    <a:pt x="28242" y="936346"/>
                  </a:lnTo>
                  <a:cubicBezTo>
                    <a:pt x="20752" y="936346"/>
                    <a:pt x="13568" y="933371"/>
                    <a:pt x="8272" y="928074"/>
                  </a:cubicBezTo>
                  <a:cubicBezTo>
                    <a:pt x="2975" y="922778"/>
                    <a:pt x="0" y="915594"/>
                    <a:pt x="0" y="908104"/>
                  </a:cubicBezTo>
                  <a:lnTo>
                    <a:pt x="0" y="28242"/>
                  </a:lnTo>
                  <a:cubicBezTo>
                    <a:pt x="0" y="12644"/>
                    <a:pt x="12644" y="0"/>
                    <a:pt x="28242" y="0"/>
                  </a:cubicBezTo>
                  <a:close/>
                </a:path>
              </a:pathLst>
            </a:custGeom>
            <a:solidFill>
              <a:srgbClr val="F4F0ED"/>
            </a:solidFill>
          </p:spPr>
          <p:txBody>
            <a:bodyPr/>
            <a:lstStyle/>
            <a:p>
              <a:endParaRPr lang="fr-C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25375" cy="974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946579" y="6132005"/>
            <a:ext cx="1537999" cy="1537999"/>
          </a:xfrm>
          <a:custGeom>
            <a:avLst/>
            <a:gdLst/>
            <a:ahLst/>
            <a:cxnLst/>
            <a:rect l="l" t="t" r="r" b="b"/>
            <a:pathLst>
              <a:path w="1537999" h="1537999">
                <a:moveTo>
                  <a:pt x="0" y="0"/>
                </a:moveTo>
                <a:lnTo>
                  <a:pt x="1537999" y="0"/>
                </a:lnTo>
                <a:lnTo>
                  <a:pt x="1537999" y="1538000"/>
                </a:lnTo>
                <a:lnTo>
                  <a:pt x="0" y="1538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A"/>
          </a:p>
        </p:txBody>
      </p:sp>
      <p:sp>
        <p:nvSpPr>
          <p:cNvPr id="10" name="Freeform 10"/>
          <p:cNvSpPr/>
          <p:nvPr/>
        </p:nvSpPr>
        <p:spPr>
          <a:xfrm>
            <a:off x="10993468" y="6901005"/>
            <a:ext cx="982222" cy="874177"/>
          </a:xfrm>
          <a:custGeom>
            <a:avLst/>
            <a:gdLst/>
            <a:ahLst/>
            <a:cxnLst/>
            <a:rect l="l" t="t" r="r" b="b"/>
            <a:pathLst>
              <a:path w="982222" h="874177">
                <a:moveTo>
                  <a:pt x="0" y="0"/>
                </a:moveTo>
                <a:lnTo>
                  <a:pt x="982221" y="0"/>
                </a:lnTo>
                <a:lnTo>
                  <a:pt x="982221" y="874177"/>
                </a:lnTo>
                <a:lnTo>
                  <a:pt x="0" y="874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A"/>
          </a:p>
        </p:txBody>
      </p:sp>
      <p:grpSp>
        <p:nvGrpSpPr>
          <p:cNvPr id="11" name="Group 11"/>
          <p:cNvGrpSpPr/>
          <p:nvPr/>
        </p:nvGrpSpPr>
        <p:grpSpPr>
          <a:xfrm>
            <a:off x="5741528" y="5824885"/>
            <a:ext cx="3289533" cy="3731806"/>
            <a:chOff x="0" y="0"/>
            <a:chExt cx="825375" cy="9363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25375" cy="936346"/>
            </a:xfrm>
            <a:custGeom>
              <a:avLst/>
              <a:gdLst/>
              <a:ahLst/>
              <a:cxnLst/>
              <a:rect l="l" t="t" r="r" b="b"/>
              <a:pathLst>
                <a:path w="825375" h="936346">
                  <a:moveTo>
                    <a:pt x="28242" y="0"/>
                  </a:moveTo>
                  <a:lnTo>
                    <a:pt x="797133" y="0"/>
                  </a:lnTo>
                  <a:cubicBezTo>
                    <a:pt x="812731" y="0"/>
                    <a:pt x="825375" y="12644"/>
                    <a:pt x="825375" y="28242"/>
                  </a:cubicBezTo>
                  <a:lnTo>
                    <a:pt x="825375" y="908104"/>
                  </a:lnTo>
                  <a:cubicBezTo>
                    <a:pt x="825375" y="923702"/>
                    <a:pt x="812731" y="936346"/>
                    <a:pt x="797133" y="936346"/>
                  </a:cubicBezTo>
                  <a:lnTo>
                    <a:pt x="28242" y="936346"/>
                  </a:lnTo>
                  <a:cubicBezTo>
                    <a:pt x="20752" y="936346"/>
                    <a:pt x="13568" y="933371"/>
                    <a:pt x="8272" y="928074"/>
                  </a:cubicBezTo>
                  <a:cubicBezTo>
                    <a:pt x="2975" y="922778"/>
                    <a:pt x="0" y="915594"/>
                    <a:pt x="0" y="908104"/>
                  </a:cubicBezTo>
                  <a:lnTo>
                    <a:pt x="0" y="28242"/>
                  </a:lnTo>
                  <a:cubicBezTo>
                    <a:pt x="0" y="12644"/>
                    <a:pt x="12644" y="0"/>
                    <a:pt x="28242" y="0"/>
                  </a:cubicBezTo>
                  <a:close/>
                </a:path>
              </a:pathLst>
            </a:custGeom>
            <a:solidFill>
              <a:srgbClr val="F4F0ED"/>
            </a:solidFill>
          </p:spPr>
          <p:txBody>
            <a:bodyPr/>
            <a:lstStyle/>
            <a:p>
              <a:endParaRPr lang="fr-C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25375" cy="974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5985075" y="6111223"/>
            <a:ext cx="2921295" cy="1673485"/>
          </a:xfrm>
          <a:custGeom>
            <a:avLst/>
            <a:gdLst/>
            <a:ahLst/>
            <a:cxnLst/>
            <a:rect l="l" t="t" r="r" b="b"/>
            <a:pathLst>
              <a:path w="2921295" h="1673485">
                <a:moveTo>
                  <a:pt x="0" y="0"/>
                </a:moveTo>
                <a:lnTo>
                  <a:pt x="2921295" y="0"/>
                </a:lnTo>
                <a:lnTo>
                  <a:pt x="2921295" y="1673484"/>
                </a:lnTo>
                <a:lnTo>
                  <a:pt x="0" y="16734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6677" t="-276691" r="-238669" b="-470546"/>
            </a:stretch>
          </a:blipFill>
        </p:spPr>
        <p:txBody>
          <a:bodyPr/>
          <a:lstStyle/>
          <a:p>
            <a:endParaRPr lang="fr-CA"/>
          </a:p>
        </p:txBody>
      </p:sp>
      <p:grpSp>
        <p:nvGrpSpPr>
          <p:cNvPr id="15" name="Group 15"/>
          <p:cNvGrpSpPr/>
          <p:nvPr/>
        </p:nvGrpSpPr>
        <p:grpSpPr>
          <a:xfrm>
            <a:off x="2226116" y="5824885"/>
            <a:ext cx="3289533" cy="3731806"/>
            <a:chOff x="0" y="0"/>
            <a:chExt cx="825375" cy="93634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25375" cy="936346"/>
            </a:xfrm>
            <a:custGeom>
              <a:avLst/>
              <a:gdLst/>
              <a:ahLst/>
              <a:cxnLst/>
              <a:rect l="l" t="t" r="r" b="b"/>
              <a:pathLst>
                <a:path w="825375" h="936346">
                  <a:moveTo>
                    <a:pt x="28242" y="0"/>
                  </a:moveTo>
                  <a:lnTo>
                    <a:pt x="797133" y="0"/>
                  </a:lnTo>
                  <a:cubicBezTo>
                    <a:pt x="812731" y="0"/>
                    <a:pt x="825375" y="12644"/>
                    <a:pt x="825375" y="28242"/>
                  </a:cubicBezTo>
                  <a:lnTo>
                    <a:pt x="825375" y="908104"/>
                  </a:lnTo>
                  <a:cubicBezTo>
                    <a:pt x="825375" y="923702"/>
                    <a:pt x="812731" y="936346"/>
                    <a:pt x="797133" y="936346"/>
                  </a:cubicBezTo>
                  <a:lnTo>
                    <a:pt x="28242" y="936346"/>
                  </a:lnTo>
                  <a:cubicBezTo>
                    <a:pt x="20752" y="936346"/>
                    <a:pt x="13568" y="933371"/>
                    <a:pt x="8272" y="928074"/>
                  </a:cubicBezTo>
                  <a:cubicBezTo>
                    <a:pt x="2975" y="922778"/>
                    <a:pt x="0" y="915594"/>
                    <a:pt x="0" y="908104"/>
                  </a:cubicBezTo>
                  <a:lnTo>
                    <a:pt x="0" y="28242"/>
                  </a:lnTo>
                  <a:cubicBezTo>
                    <a:pt x="0" y="12644"/>
                    <a:pt x="12644" y="0"/>
                    <a:pt x="28242" y="0"/>
                  </a:cubicBezTo>
                  <a:close/>
                </a:path>
              </a:pathLst>
            </a:custGeom>
            <a:solidFill>
              <a:srgbClr val="F4F0ED"/>
            </a:solidFill>
          </p:spPr>
          <p:txBody>
            <a:bodyPr/>
            <a:lstStyle/>
            <a:p>
              <a:endParaRPr lang="fr-CA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25375" cy="974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2523606" y="6293134"/>
            <a:ext cx="2694553" cy="1491573"/>
          </a:xfrm>
          <a:custGeom>
            <a:avLst/>
            <a:gdLst/>
            <a:ahLst/>
            <a:cxnLst/>
            <a:rect l="l" t="t" r="r" b="b"/>
            <a:pathLst>
              <a:path w="2694553" h="1491573">
                <a:moveTo>
                  <a:pt x="0" y="0"/>
                </a:moveTo>
                <a:lnTo>
                  <a:pt x="2694553" y="0"/>
                </a:lnTo>
                <a:lnTo>
                  <a:pt x="2694553" y="1491573"/>
                </a:lnTo>
                <a:lnTo>
                  <a:pt x="0" y="1491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603" t="-314897" r="-396584" b="-535670"/>
            </a:stretch>
          </a:blipFill>
        </p:spPr>
        <p:txBody>
          <a:bodyPr/>
          <a:lstStyle/>
          <a:p>
            <a:endParaRPr lang="fr-CA"/>
          </a:p>
        </p:txBody>
      </p:sp>
      <p:sp>
        <p:nvSpPr>
          <p:cNvPr id="19" name="Freeform 19"/>
          <p:cNvSpPr/>
          <p:nvPr/>
        </p:nvSpPr>
        <p:spPr>
          <a:xfrm>
            <a:off x="4467860" y="5928333"/>
            <a:ext cx="304539" cy="441361"/>
          </a:xfrm>
          <a:custGeom>
            <a:avLst/>
            <a:gdLst/>
            <a:ahLst/>
            <a:cxnLst/>
            <a:rect l="l" t="t" r="r" b="b"/>
            <a:pathLst>
              <a:path w="304539" h="441361">
                <a:moveTo>
                  <a:pt x="0" y="0"/>
                </a:moveTo>
                <a:lnTo>
                  <a:pt x="304540" y="0"/>
                </a:lnTo>
                <a:lnTo>
                  <a:pt x="304540" y="441362"/>
                </a:lnTo>
                <a:lnTo>
                  <a:pt x="0" y="4413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A"/>
          </a:p>
        </p:txBody>
      </p:sp>
      <p:sp>
        <p:nvSpPr>
          <p:cNvPr id="20" name="Freeform 20"/>
          <p:cNvSpPr/>
          <p:nvPr/>
        </p:nvSpPr>
        <p:spPr>
          <a:xfrm>
            <a:off x="13589642" y="6111223"/>
            <a:ext cx="1877917" cy="1643177"/>
          </a:xfrm>
          <a:custGeom>
            <a:avLst/>
            <a:gdLst/>
            <a:ahLst/>
            <a:cxnLst/>
            <a:rect l="l" t="t" r="r" b="b"/>
            <a:pathLst>
              <a:path w="1877917" h="1643177">
                <a:moveTo>
                  <a:pt x="0" y="0"/>
                </a:moveTo>
                <a:lnTo>
                  <a:pt x="1877917" y="0"/>
                </a:lnTo>
                <a:lnTo>
                  <a:pt x="1877917" y="1643177"/>
                </a:lnTo>
                <a:lnTo>
                  <a:pt x="0" y="1643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A"/>
          </a:p>
        </p:txBody>
      </p:sp>
      <p:sp>
        <p:nvSpPr>
          <p:cNvPr id="21" name="TextBox 21"/>
          <p:cNvSpPr txBox="1"/>
          <p:nvPr/>
        </p:nvSpPr>
        <p:spPr>
          <a:xfrm>
            <a:off x="1533525" y="61848"/>
            <a:ext cx="15220950" cy="141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8"/>
              </a:lnSpc>
            </a:pPr>
            <a:r>
              <a:rPr lang="en-US" sz="6000" b="1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LA CAUSE DU PROBLÈME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65739" y="2573745"/>
            <a:ext cx="6585246" cy="2061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2"/>
              </a:lnSpc>
            </a:pPr>
            <a:r>
              <a:rPr lang="en-US" sz="3959" b="1">
                <a:solidFill>
                  <a:srgbClr val="F8F3D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 problème central, c'est la difficulté à vendre un projet avant sa réalisation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44194" y="8069407"/>
            <a:ext cx="2915024" cy="1188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5"/>
              </a:lnSpc>
            </a:pPr>
            <a:r>
              <a:rPr lang="en-US" sz="1746" b="1">
                <a:solidFill>
                  <a:srgbClr val="2733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Embaucher un spécialiste 3D à temps plein peut être disproportionné pour une petite firme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84522" y="8117842"/>
            <a:ext cx="2615193" cy="887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5"/>
              </a:lnSpc>
            </a:pPr>
            <a:r>
              <a:rPr lang="en-US" sz="1746" b="1">
                <a:solidFill>
                  <a:srgbClr val="2733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Les équipes n’ont pas le temps ni l’expertise en 3D en interne.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23606" y="8117842"/>
            <a:ext cx="2858317" cy="887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5"/>
              </a:lnSpc>
            </a:pPr>
            <a:r>
              <a:rPr lang="en-US" sz="1746" b="1">
                <a:solidFill>
                  <a:srgbClr val="2733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Plans 2D difficiles à interpréter pour certains clients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903594" y="8069407"/>
            <a:ext cx="3084196" cy="1188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5"/>
              </a:lnSpc>
            </a:pPr>
            <a:r>
              <a:rPr lang="en-US" sz="1746" b="1">
                <a:solidFill>
                  <a:srgbClr val="2733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Il y a une forte concurence entre les entreprise et beaucoup d’entre elle manque de clients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91950" y="263815"/>
            <a:ext cx="1326334" cy="1736345"/>
            <a:chOff x="0" y="0"/>
            <a:chExt cx="1768445" cy="2315126"/>
          </a:xfrm>
        </p:grpSpPr>
        <p:grpSp>
          <p:nvGrpSpPr>
            <p:cNvPr id="28" name="Group 28"/>
            <p:cNvGrpSpPr/>
            <p:nvPr/>
          </p:nvGrpSpPr>
          <p:grpSpPr>
            <a:xfrm rot="-5400000">
              <a:off x="-249988" y="296692"/>
              <a:ext cx="2315126" cy="1721741"/>
              <a:chOff x="0" y="0"/>
              <a:chExt cx="1532476" cy="113969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532476" cy="1139691"/>
              </a:xfrm>
              <a:custGeom>
                <a:avLst/>
                <a:gdLst/>
                <a:ahLst/>
                <a:cxnLst/>
                <a:rect l="l" t="t" r="r" b="b"/>
                <a:pathLst>
                  <a:path w="1532476" h="1139691">
                    <a:moveTo>
                      <a:pt x="227396" y="0"/>
                    </a:moveTo>
                    <a:lnTo>
                      <a:pt x="1305080" y="0"/>
                    </a:lnTo>
                    <a:cubicBezTo>
                      <a:pt x="1430667" y="0"/>
                      <a:pt x="1532476" y="101809"/>
                      <a:pt x="1532476" y="227396"/>
                    </a:cubicBezTo>
                    <a:lnTo>
                      <a:pt x="1532476" y="912295"/>
                    </a:lnTo>
                    <a:cubicBezTo>
                      <a:pt x="1532476" y="972604"/>
                      <a:pt x="1508518" y="1030443"/>
                      <a:pt x="1465873" y="1073088"/>
                    </a:cubicBezTo>
                    <a:cubicBezTo>
                      <a:pt x="1423228" y="1115733"/>
                      <a:pt x="1365389" y="1139691"/>
                      <a:pt x="1305080" y="1139691"/>
                    </a:cubicBezTo>
                    <a:lnTo>
                      <a:pt x="227396" y="1139691"/>
                    </a:lnTo>
                    <a:cubicBezTo>
                      <a:pt x="167087" y="1139691"/>
                      <a:pt x="109248" y="1115733"/>
                      <a:pt x="66603" y="1073088"/>
                    </a:cubicBezTo>
                    <a:cubicBezTo>
                      <a:pt x="23958" y="1030443"/>
                      <a:pt x="0" y="972604"/>
                      <a:pt x="0" y="912295"/>
                    </a:cubicBezTo>
                    <a:lnTo>
                      <a:pt x="0" y="227396"/>
                    </a:lnTo>
                    <a:cubicBezTo>
                      <a:pt x="0" y="167087"/>
                      <a:pt x="23958" y="109248"/>
                      <a:pt x="66603" y="66603"/>
                    </a:cubicBezTo>
                    <a:cubicBezTo>
                      <a:pt x="109248" y="23958"/>
                      <a:pt x="167087" y="0"/>
                      <a:pt x="227396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532476" cy="11777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72943" y="1605607"/>
              <a:ext cx="1605699" cy="510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8"/>
                </a:lnSpc>
                <a:spcBef>
                  <a:spcPct val="0"/>
                </a:spcBef>
              </a:pPr>
              <a:r>
                <a:rPr lang="en-US" sz="2241">
                  <a:solidFill>
                    <a:srgbClr val="F8F3DD"/>
                  </a:soli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STUDIOS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468229"/>
              <a:ext cx="1751585" cy="1258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554"/>
                </a:lnSpc>
              </a:pPr>
              <a:r>
                <a:rPr lang="en-US" sz="5395" spc="-302">
                  <a:gradFill>
                    <a:gsLst>
                      <a:gs pos="0">
                        <a:srgbClr val="FEFFFF">
                          <a:alpha val="100000"/>
                        </a:srgbClr>
                      </a:gs>
                      <a:gs pos="100000">
                        <a:srgbClr val="C5C5C5">
                          <a:alpha val="100000"/>
                        </a:srgbClr>
                      </a:gs>
                    </a:gsLst>
                    <a:lin ang="5400000"/>
                  </a:gra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ARK</a:t>
              </a:r>
            </a:p>
          </p:txBody>
        </p:sp>
        <p:sp>
          <p:nvSpPr>
            <p:cNvPr id="33" name="Freeform 33"/>
            <p:cNvSpPr/>
            <p:nvPr/>
          </p:nvSpPr>
          <p:spPr>
            <a:xfrm rot="-10800000">
              <a:off x="498517" y="256975"/>
              <a:ext cx="818115" cy="400876"/>
            </a:xfrm>
            <a:custGeom>
              <a:avLst/>
              <a:gdLst/>
              <a:ahLst/>
              <a:cxnLst/>
              <a:rect l="l" t="t" r="r" b="b"/>
              <a:pathLst>
                <a:path w="818115" h="400876">
                  <a:moveTo>
                    <a:pt x="0" y="0"/>
                  </a:moveTo>
                  <a:lnTo>
                    <a:pt x="818115" y="0"/>
                  </a:lnTo>
                  <a:lnTo>
                    <a:pt x="818115" y="400876"/>
                  </a:lnTo>
                  <a:lnTo>
                    <a:pt x="0" y="400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CA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3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66" y="2512567"/>
            <a:ext cx="16409619" cy="5267724"/>
            <a:chOff x="0" y="0"/>
            <a:chExt cx="5533810" cy="17764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33810" cy="1776433"/>
            </a:xfrm>
            <a:custGeom>
              <a:avLst/>
              <a:gdLst/>
              <a:ahLst/>
              <a:cxnLst/>
              <a:rect l="l" t="t" r="r" b="b"/>
              <a:pathLst>
                <a:path w="5533810" h="1776433">
                  <a:moveTo>
                    <a:pt x="24061" y="0"/>
                  </a:moveTo>
                  <a:lnTo>
                    <a:pt x="5509749" y="0"/>
                  </a:lnTo>
                  <a:cubicBezTo>
                    <a:pt x="5523038" y="0"/>
                    <a:pt x="5533810" y="10773"/>
                    <a:pt x="5533810" y="24061"/>
                  </a:cubicBezTo>
                  <a:lnTo>
                    <a:pt x="5533810" y="1752372"/>
                  </a:lnTo>
                  <a:cubicBezTo>
                    <a:pt x="5533810" y="1765660"/>
                    <a:pt x="5523038" y="1776433"/>
                    <a:pt x="5509749" y="1776433"/>
                  </a:cubicBezTo>
                  <a:lnTo>
                    <a:pt x="24061" y="1776433"/>
                  </a:lnTo>
                  <a:cubicBezTo>
                    <a:pt x="10773" y="1776433"/>
                    <a:pt x="0" y="1765660"/>
                    <a:pt x="0" y="1752372"/>
                  </a:cubicBezTo>
                  <a:lnTo>
                    <a:pt x="0" y="24061"/>
                  </a:lnTo>
                  <a:cubicBezTo>
                    <a:pt x="0" y="10773"/>
                    <a:pt x="10773" y="0"/>
                    <a:pt x="24061" y="0"/>
                  </a:cubicBezTo>
                  <a:close/>
                </a:path>
              </a:pathLst>
            </a:custGeom>
            <a:solidFill>
              <a:srgbClr val="F8F3DD"/>
            </a:solidFill>
          </p:spPr>
          <p:txBody>
            <a:bodyPr/>
            <a:lstStyle/>
            <a:p>
              <a:endParaRPr lang="fr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33810" cy="1814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55810" y="2929574"/>
            <a:ext cx="15728873" cy="4433711"/>
          </a:xfrm>
          <a:custGeom>
            <a:avLst/>
            <a:gdLst/>
            <a:ahLst/>
            <a:cxnLst/>
            <a:rect l="l" t="t" r="r" b="b"/>
            <a:pathLst>
              <a:path w="15728873" h="4433711">
                <a:moveTo>
                  <a:pt x="0" y="0"/>
                </a:moveTo>
                <a:lnTo>
                  <a:pt x="15728873" y="0"/>
                </a:lnTo>
                <a:lnTo>
                  <a:pt x="15728873" y="4433711"/>
                </a:lnTo>
                <a:lnTo>
                  <a:pt x="0" y="44337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005" b="-92293"/>
            </a:stretch>
          </a:blipFill>
        </p:spPr>
        <p:txBody>
          <a:bodyPr/>
          <a:lstStyle/>
          <a:p>
            <a:endParaRPr lang="fr-CA"/>
          </a:p>
        </p:txBody>
      </p:sp>
      <p:sp>
        <p:nvSpPr>
          <p:cNvPr id="6" name="TextBox 6"/>
          <p:cNvSpPr txBox="1"/>
          <p:nvPr/>
        </p:nvSpPr>
        <p:spPr>
          <a:xfrm>
            <a:off x="3701900" y="621899"/>
            <a:ext cx="11614299" cy="1028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F8F3D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L’OBJECTIF DE L'ENTREPRISE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5826" y="8085091"/>
            <a:ext cx="14768841" cy="151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1"/>
              </a:lnSpc>
            </a:pPr>
            <a:r>
              <a:rPr lang="en-US" sz="2908" b="1">
                <a:solidFill>
                  <a:srgbClr val="F8F3D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Permettre aux professionnels de l’immobilier, de l’architecture et de la rénovation de visualiser, présenter et commercialiser leurs projets avant même leur réalisation.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91950" y="263815"/>
            <a:ext cx="1326334" cy="1736345"/>
            <a:chOff x="0" y="0"/>
            <a:chExt cx="1768445" cy="2315126"/>
          </a:xfrm>
        </p:grpSpPr>
        <p:grpSp>
          <p:nvGrpSpPr>
            <p:cNvPr id="9" name="Group 9"/>
            <p:cNvGrpSpPr/>
            <p:nvPr/>
          </p:nvGrpSpPr>
          <p:grpSpPr>
            <a:xfrm rot="-5400000">
              <a:off x="-249988" y="296692"/>
              <a:ext cx="2315126" cy="1721741"/>
              <a:chOff x="0" y="0"/>
              <a:chExt cx="1532476" cy="113969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532476" cy="1139691"/>
              </a:xfrm>
              <a:custGeom>
                <a:avLst/>
                <a:gdLst/>
                <a:ahLst/>
                <a:cxnLst/>
                <a:rect l="l" t="t" r="r" b="b"/>
                <a:pathLst>
                  <a:path w="1532476" h="1139691">
                    <a:moveTo>
                      <a:pt x="227396" y="0"/>
                    </a:moveTo>
                    <a:lnTo>
                      <a:pt x="1305080" y="0"/>
                    </a:lnTo>
                    <a:cubicBezTo>
                      <a:pt x="1430667" y="0"/>
                      <a:pt x="1532476" y="101809"/>
                      <a:pt x="1532476" y="227396"/>
                    </a:cubicBezTo>
                    <a:lnTo>
                      <a:pt x="1532476" y="912295"/>
                    </a:lnTo>
                    <a:cubicBezTo>
                      <a:pt x="1532476" y="972604"/>
                      <a:pt x="1508518" y="1030443"/>
                      <a:pt x="1465873" y="1073088"/>
                    </a:cubicBezTo>
                    <a:cubicBezTo>
                      <a:pt x="1423228" y="1115733"/>
                      <a:pt x="1365389" y="1139691"/>
                      <a:pt x="1305080" y="1139691"/>
                    </a:cubicBezTo>
                    <a:lnTo>
                      <a:pt x="227396" y="1139691"/>
                    </a:lnTo>
                    <a:cubicBezTo>
                      <a:pt x="167087" y="1139691"/>
                      <a:pt x="109248" y="1115733"/>
                      <a:pt x="66603" y="1073088"/>
                    </a:cubicBezTo>
                    <a:cubicBezTo>
                      <a:pt x="23958" y="1030443"/>
                      <a:pt x="0" y="972604"/>
                      <a:pt x="0" y="912295"/>
                    </a:cubicBezTo>
                    <a:lnTo>
                      <a:pt x="0" y="227396"/>
                    </a:lnTo>
                    <a:cubicBezTo>
                      <a:pt x="0" y="167087"/>
                      <a:pt x="23958" y="109248"/>
                      <a:pt x="66603" y="66603"/>
                    </a:cubicBezTo>
                    <a:cubicBezTo>
                      <a:pt x="109248" y="23958"/>
                      <a:pt x="167087" y="0"/>
                      <a:pt x="227396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532476" cy="11777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72943" y="1605607"/>
              <a:ext cx="1605699" cy="510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8"/>
                </a:lnSpc>
                <a:spcBef>
                  <a:spcPct val="0"/>
                </a:spcBef>
              </a:pPr>
              <a:r>
                <a:rPr lang="en-US" sz="2241">
                  <a:solidFill>
                    <a:srgbClr val="F8F3DD"/>
                  </a:soli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STUDIOS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468229"/>
              <a:ext cx="1751585" cy="1258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554"/>
                </a:lnSpc>
              </a:pPr>
              <a:r>
                <a:rPr lang="en-US" sz="5395" spc="-302">
                  <a:gradFill>
                    <a:gsLst>
                      <a:gs pos="0">
                        <a:srgbClr val="FEFFFF">
                          <a:alpha val="100000"/>
                        </a:srgbClr>
                      </a:gs>
                      <a:gs pos="100000">
                        <a:srgbClr val="C5C5C5">
                          <a:alpha val="100000"/>
                        </a:srgbClr>
                      </a:gs>
                    </a:gsLst>
                    <a:lin ang="5400000"/>
                  </a:gra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ARK</a:t>
              </a:r>
            </a:p>
          </p:txBody>
        </p:sp>
        <p:sp>
          <p:nvSpPr>
            <p:cNvPr id="14" name="Freeform 14"/>
            <p:cNvSpPr/>
            <p:nvPr/>
          </p:nvSpPr>
          <p:spPr>
            <a:xfrm rot="-10800000">
              <a:off x="498517" y="256975"/>
              <a:ext cx="818115" cy="400876"/>
            </a:xfrm>
            <a:custGeom>
              <a:avLst/>
              <a:gdLst/>
              <a:ahLst/>
              <a:cxnLst/>
              <a:rect l="l" t="t" r="r" b="b"/>
              <a:pathLst>
                <a:path w="818115" h="400876">
                  <a:moveTo>
                    <a:pt x="0" y="0"/>
                  </a:moveTo>
                  <a:lnTo>
                    <a:pt x="818115" y="0"/>
                  </a:lnTo>
                  <a:lnTo>
                    <a:pt x="818115" y="400876"/>
                  </a:lnTo>
                  <a:lnTo>
                    <a:pt x="0" y="400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CA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3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62662" y="61848"/>
            <a:ext cx="6162675" cy="141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8"/>
              </a:lnSpc>
            </a:pPr>
            <a:r>
              <a:rPr lang="en-US" sz="6000" b="1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 CLIENTS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35197" y="2879183"/>
            <a:ext cx="4109500" cy="2780481"/>
            <a:chOff x="0" y="0"/>
            <a:chExt cx="1423142" cy="9628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3142" cy="962895"/>
            </a:xfrm>
            <a:custGeom>
              <a:avLst/>
              <a:gdLst/>
              <a:ahLst/>
              <a:cxnLst/>
              <a:rect l="l" t="t" r="r" b="b"/>
              <a:pathLst>
                <a:path w="1423142" h="962895">
                  <a:moveTo>
                    <a:pt x="96079" y="0"/>
                  </a:moveTo>
                  <a:lnTo>
                    <a:pt x="1327062" y="0"/>
                  </a:lnTo>
                  <a:cubicBezTo>
                    <a:pt x="1352544" y="0"/>
                    <a:pt x="1376982" y="10123"/>
                    <a:pt x="1395001" y="28141"/>
                  </a:cubicBezTo>
                  <a:cubicBezTo>
                    <a:pt x="1413019" y="46159"/>
                    <a:pt x="1423142" y="70597"/>
                    <a:pt x="1423142" y="96079"/>
                  </a:cubicBezTo>
                  <a:lnTo>
                    <a:pt x="1423142" y="866816"/>
                  </a:lnTo>
                  <a:cubicBezTo>
                    <a:pt x="1423142" y="892298"/>
                    <a:pt x="1413019" y="916736"/>
                    <a:pt x="1395001" y="934754"/>
                  </a:cubicBezTo>
                  <a:cubicBezTo>
                    <a:pt x="1376982" y="952773"/>
                    <a:pt x="1352544" y="962895"/>
                    <a:pt x="1327062" y="962895"/>
                  </a:cubicBezTo>
                  <a:lnTo>
                    <a:pt x="96079" y="962895"/>
                  </a:lnTo>
                  <a:cubicBezTo>
                    <a:pt x="70597" y="962895"/>
                    <a:pt x="46159" y="952773"/>
                    <a:pt x="28141" y="934754"/>
                  </a:cubicBezTo>
                  <a:cubicBezTo>
                    <a:pt x="10123" y="916736"/>
                    <a:pt x="0" y="892298"/>
                    <a:pt x="0" y="866816"/>
                  </a:cubicBezTo>
                  <a:lnTo>
                    <a:pt x="0" y="96079"/>
                  </a:lnTo>
                  <a:cubicBezTo>
                    <a:pt x="0" y="70597"/>
                    <a:pt x="10123" y="46159"/>
                    <a:pt x="28141" y="28141"/>
                  </a:cubicBezTo>
                  <a:cubicBezTo>
                    <a:pt x="46159" y="10123"/>
                    <a:pt x="70597" y="0"/>
                    <a:pt x="96079" y="0"/>
                  </a:cubicBezTo>
                  <a:close/>
                </a:path>
              </a:pathLst>
            </a:custGeom>
            <a:solidFill>
              <a:srgbClr val="F8F3DD"/>
            </a:solidFill>
          </p:spPr>
          <p:txBody>
            <a:bodyPr/>
            <a:lstStyle/>
            <a:p>
              <a:endParaRPr lang="fr-C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3142" cy="1000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27600" y="2992459"/>
            <a:ext cx="3117458" cy="2667205"/>
          </a:xfrm>
          <a:custGeom>
            <a:avLst/>
            <a:gdLst/>
            <a:ahLst/>
            <a:cxnLst/>
            <a:rect l="l" t="t" r="r" b="b"/>
            <a:pathLst>
              <a:path w="3117458" h="2667205">
                <a:moveTo>
                  <a:pt x="0" y="0"/>
                </a:moveTo>
                <a:lnTo>
                  <a:pt x="3117458" y="0"/>
                </a:lnTo>
                <a:lnTo>
                  <a:pt x="3117458" y="2667205"/>
                </a:lnTo>
                <a:lnTo>
                  <a:pt x="0" y="26672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" r="-41058" b="-87"/>
            </a:stretch>
          </a:blipFill>
        </p:spPr>
        <p:txBody>
          <a:bodyPr/>
          <a:lstStyle/>
          <a:p>
            <a:endParaRPr lang="fr-CA"/>
          </a:p>
        </p:txBody>
      </p:sp>
      <p:grpSp>
        <p:nvGrpSpPr>
          <p:cNvPr id="7" name="Group 7"/>
          <p:cNvGrpSpPr/>
          <p:nvPr/>
        </p:nvGrpSpPr>
        <p:grpSpPr>
          <a:xfrm>
            <a:off x="835197" y="6947148"/>
            <a:ext cx="4109500" cy="2780481"/>
            <a:chOff x="0" y="0"/>
            <a:chExt cx="1423142" cy="9628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23142" cy="962895"/>
            </a:xfrm>
            <a:custGeom>
              <a:avLst/>
              <a:gdLst/>
              <a:ahLst/>
              <a:cxnLst/>
              <a:rect l="l" t="t" r="r" b="b"/>
              <a:pathLst>
                <a:path w="1423142" h="962895">
                  <a:moveTo>
                    <a:pt x="96079" y="0"/>
                  </a:moveTo>
                  <a:lnTo>
                    <a:pt x="1327062" y="0"/>
                  </a:lnTo>
                  <a:cubicBezTo>
                    <a:pt x="1352544" y="0"/>
                    <a:pt x="1376982" y="10123"/>
                    <a:pt x="1395001" y="28141"/>
                  </a:cubicBezTo>
                  <a:cubicBezTo>
                    <a:pt x="1413019" y="46159"/>
                    <a:pt x="1423142" y="70597"/>
                    <a:pt x="1423142" y="96079"/>
                  </a:cubicBezTo>
                  <a:lnTo>
                    <a:pt x="1423142" y="866816"/>
                  </a:lnTo>
                  <a:cubicBezTo>
                    <a:pt x="1423142" y="892298"/>
                    <a:pt x="1413019" y="916736"/>
                    <a:pt x="1395001" y="934754"/>
                  </a:cubicBezTo>
                  <a:cubicBezTo>
                    <a:pt x="1376982" y="952773"/>
                    <a:pt x="1352544" y="962895"/>
                    <a:pt x="1327062" y="962895"/>
                  </a:cubicBezTo>
                  <a:lnTo>
                    <a:pt x="96079" y="962895"/>
                  </a:lnTo>
                  <a:cubicBezTo>
                    <a:pt x="70597" y="962895"/>
                    <a:pt x="46159" y="952773"/>
                    <a:pt x="28141" y="934754"/>
                  </a:cubicBezTo>
                  <a:cubicBezTo>
                    <a:pt x="10123" y="916736"/>
                    <a:pt x="0" y="892298"/>
                    <a:pt x="0" y="866816"/>
                  </a:cubicBezTo>
                  <a:lnTo>
                    <a:pt x="0" y="96079"/>
                  </a:lnTo>
                  <a:cubicBezTo>
                    <a:pt x="0" y="70597"/>
                    <a:pt x="10123" y="46159"/>
                    <a:pt x="28141" y="28141"/>
                  </a:cubicBezTo>
                  <a:cubicBezTo>
                    <a:pt x="46159" y="10123"/>
                    <a:pt x="70597" y="0"/>
                    <a:pt x="96079" y="0"/>
                  </a:cubicBezTo>
                  <a:close/>
                </a:path>
              </a:pathLst>
            </a:custGeom>
            <a:solidFill>
              <a:srgbClr val="F8F3DD"/>
            </a:solidFill>
          </p:spPr>
          <p:txBody>
            <a:bodyPr/>
            <a:lstStyle/>
            <a:p>
              <a:endParaRPr lang="fr-C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423142" cy="1000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73194" y="7064351"/>
            <a:ext cx="2983760" cy="2541981"/>
          </a:xfrm>
          <a:custGeom>
            <a:avLst/>
            <a:gdLst/>
            <a:ahLst/>
            <a:cxnLst/>
            <a:rect l="l" t="t" r="r" b="b"/>
            <a:pathLst>
              <a:path w="2983760" h="2541981">
                <a:moveTo>
                  <a:pt x="0" y="0"/>
                </a:moveTo>
                <a:lnTo>
                  <a:pt x="2983761" y="0"/>
                </a:lnTo>
                <a:lnTo>
                  <a:pt x="2983761" y="2541981"/>
                </a:lnTo>
                <a:lnTo>
                  <a:pt x="0" y="254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07"/>
            </a:stretch>
          </a:blipFill>
        </p:spPr>
        <p:txBody>
          <a:bodyPr/>
          <a:lstStyle/>
          <a:p>
            <a:endParaRPr lang="fr-CA"/>
          </a:p>
        </p:txBody>
      </p:sp>
      <p:grpSp>
        <p:nvGrpSpPr>
          <p:cNvPr id="11" name="Group 11"/>
          <p:cNvGrpSpPr/>
          <p:nvPr/>
        </p:nvGrpSpPr>
        <p:grpSpPr>
          <a:xfrm>
            <a:off x="9212200" y="2839368"/>
            <a:ext cx="4063644" cy="2749455"/>
            <a:chOff x="0" y="0"/>
            <a:chExt cx="1423142" cy="9628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23142" cy="962895"/>
            </a:xfrm>
            <a:custGeom>
              <a:avLst/>
              <a:gdLst/>
              <a:ahLst/>
              <a:cxnLst/>
              <a:rect l="l" t="t" r="r" b="b"/>
              <a:pathLst>
                <a:path w="1423142" h="962895">
                  <a:moveTo>
                    <a:pt x="97164" y="0"/>
                  </a:moveTo>
                  <a:lnTo>
                    <a:pt x="1325978" y="0"/>
                  </a:lnTo>
                  <a:cubicBezTo>
                    <a:pt x="1351747" y="0"/>
                    <a:pt x="1376461" y="10237"/>
                    <a:pt x="1394683" y="28459"/>
                  </a:cubicBezTo>
                  <a:cubicBezTo>
                    <a:pt x="1412905" y="46680"/>
                    <a:pt x="1423142" y="71394"/>
                    <a:pt x="1423142" y="97164"/>
                  </a:cubicBezTo>
                  <a:lnTo>
                    <a:pt x="1423142" y="865732"/>
                  </a:lnTo>
                  <a:cubicBezTo>
                    <a:pt x="1423142" y="891501"/>
                    <a:pt x="1412905" y="916215"/>
                    <a:pt x="1394683" y="934437"/>
                  </a:cubicBezTo>
                  <a:cubicBezTo>
                    <a:pt x="1376461" y="952659"/>
                    <a:pt x="1351747" y="962895"/>
                    <a:pt x="1325978" y="962895"/>
                  </a:cubicBezTo>
                  <a:lnTo>
                    <a:pt x="97164" y="962895"/>
                  </a:lnTo>
                  <a:cubicBezTo>
                    <a:pt x="71394" y="962895"/>
                    <a:pt x="46680" y="952659"/>
                    <a:pt x="28459" y="934437"/>
                  </a:cubicBezTo>
                  <a:cubicBezTo>
                    <a:pt x="10237" y="916215"/>
                    <a:pt x="0" y="891501"/>
                    <a:pt x="0" y="865732"/>
                  </a:cubicBezTo>
                  <a:lnTo>
                    <a:pt x="0" y="97164"/>
                  </a:lnTo>
                  <a:cubicBezTo>
                    <a:pt x="0" y="71394"/>
                    <a:pt x="10237" y="46680"/>
                    <a:pt x="28459" y="28459"/>
                  </a:cubicBezTo>
                  <a:cubicBezTo>
                    <a:pt x="46680" y="10237"/>
                    <a:pt x="71394" y="0"/>
                    <a:pt x="97164" y="0"/>
                  </a:cubicBezTo>
                  <a:close/>
                </a:path>
              </a:pathLst>
            </a:custGeom>
            <a:solidFill>
              <a:srgbClr val="F8F3DD"/>
            </a:solidFill>
          </p:spPr>
          <p:txBody>
            <a:bodyPr/>
            <a:lstStyle/>
            <a:p>
              <a:endParaRPr lang="fr-C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23142" cy="1000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590475" y="2951379"/>
            <a:ext cx="3307094" cy="2525431"/>
          </a:xfrm>
          <a:custGeom>
            <a:avLst/>
            <a:gdLst/>
            <a:ahLst/>
            <a:cxnLst/>
            <a:rect l="l" t="t" r="r" b="b"/>
            <a:pathLst>
              <a:path w="3307094" h="2525431">
                <a:moveTo>
                  <a:pt x="0" y="0"/>
                </a:moveTo>
                <a:lnTo>
                  <a:pt x="3307093" y="0"/>
                </a:lnTo>
                <a:lnTo>
                  <a:pt x="3307093" y="2525431"/>
                </a:lnTo>
                <a:lnTo>
                  <a:pt x="0" y="25254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2773" r="-582"/>
            </a:stretch>
          </a:blipFill>
        </p:spPr>
        <p:txBody>
          <a:bodyPr/>
          <a:lstStyle/>
          <a:p>
            <a:endParaRPr lang="fr-CA"/>
          </a:p>
        </p:txBody>
      </p:sp>
      <p:grpSp>
        <p:nvGrpSpPr>
          <p:cNvPr id="15" name="Group 15"/>
          <p:cNvGrpSpPr/>
          <p:nvPr/>
        </p:nvGrpSpPr>
        <p:grpSpPr>
          <a:xfrm>
            <a:off x="9250965" y="6947148"/>
            <a:ext cx="4109500" cy="2780481"/>
            <a:chOff x="0" y="0"/>
            <a:chExt cx="1423142" cy="96289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23142" cy="962895"/>
            </a:xfrm>
            <a:custGeom>
              <a:avLst/>
              <a:gdLst/>
              <a:ahLst/>
              <a:cxnLst/>
              <a:rect l="l" t="t" r="r" b="b"/>
              <a:pathLst>
                <a:path w="1423142" h="962895">
                  <a:moveTo>
                    <a:pt x="96079" y="0"/>
                  </a:moveTo>
                  <a:lnTo>
                    <a:pt x="1327062" y="0"/>
                  </a:lnTo>
                  <a:cubicBezTo>
                    <a:pt x="1352544" y="0"/>
                    <a:pt x="1376982" y="10123"/>
                    <a:pt x="1395001" y="28141"/>
                  </a:cubicBezTo>
                  <a:cubicBezTo>
                    <a:pt x="1413019" y="46159"/>
                    <a:pt x="1423142" y="70597"/>
                    <a:pt x="1423142" y="96079"/>
                  </a:cubicBezTo>
                  <a:lnTo>
                    <a:pt x="1423142" y="866816"/>
                  </a:lnTo>
                  <a:cubicBezTo>
                    <a:pt x="1423142" y="892298"/>
                    <a:pt x="1413019" y="916736"/>
                    <a:pt x="1395001" y="934754"/>
                  </a:cubicBezTo>
                  <a:cubicBezTo>
                    <a:pt x="1376982" y="952773"/>
                    <a:pt x="1352544" y="962895"/>
                    <a:pt x="1327062" y="962895"/>
                  </a:cubicBezTo>
                  <a:lnTo>
                    <a:pt x="96079" y="962895"/>
                  </a:lnTo>
                  <a:cubicBezTo>
                    <a:pt x="70597" y="962895"/>
                    <a:pt x="46159" y="952773"/>
                    <a:pt x="28141" y="934754"/>
                  </a:cubicBezTo>
                  <a:cubicBezTo>
                    <a:pt x="10123" y="916736"/>
                    <a:pt x="0" y="892298"/>
                    <a:pt x="0" y="866816"/>
                  </a:cubicBezTo>
                  <a:lnTo>
                    <a:pt x="0" y="96079"/>
                  </a:lnTo>
                  <a:cubicBezTo>
                    <a:pt x="0" y="70597"/>
                    <a:pt x="10123" y="46159"/>
                    <a:pt x="28141" y="28141"/>
                  </a:cubicBezTo>
                  <a:cubicBezTo>
                    <a:pt x="46159" y="10123"/>
                    <a:pt x="70597" y="0"/>
                    <a:pt x="96079" y="0"/>
                  </a:cubicBezTo>
                  <a:close/>
                </a:path>
              </a:pathLst>
            </a:custGeom>
            <a:solidFill>
              <a:srgbClr val="F8F3DD"/>
            </a:solidFill>
          </p:spPr>
          <p:txBody>
            <a:bodyPr/>
            <a:lstStyle/>
            <a:p>
              <a:endParaRPr lang="fr-CA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423142" cy="1000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0078024" y="7091803"/>
            <a:ext cx="2455381" cy="2514528"/>
          </a:xfrm>
          <a:custGeom>
            <a:avLst/>
            <a:gdLst/>
            <a:ahLst/>
            <a:cxnLst/>
            <a:rect l="l" t="t" r="r" b="b"/>
            <a:pathLst>
              <a:path w="2455381" h="2514528">
                <a:moveTo>
                  <a:pt x="0" y="0"/>
                </a:moveTo>
                <a:lnTo>
                  <a:pt x="2455381" y="0"/>
                </a:lnTo>
                <a:lnTo>
                  <a:pt x="2455381" y="2514529"/>
                </a:lnTo>
                <a:lnTo>
                  <a:pt x="0" y="25145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6994"/>
            </a:stretch>
          </a:blipFill>
        </p:spPr>
        <p:txBody>
          <a:bodyPr/>
          <a:lstStyle/>
          <a:p>
            <a:endParaRPr lang="fr-CA"/>
          </a:p>
        </p:txBody>
      </p:sp>
      <p:sp>
        <p:nvSpPr>
          <p:cNvPr id="19" name="TextBox 19"/>
          <p:cNvSpPr txBox="1"/>
          <p:nvPr/>
        </p:nvSpPr>
        <p:spPr>
          <a:xfrm>
            <a:off x="788408" y="1706036"/>
            <a:ext cx="435362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F8F3DD"/>
                </a:solidFill>
                <a:latin typeface="Aileron Bold"/>
                <a:ea typeface="Aileron Bold"/>
                <a:cs typeface="Aileron Bold"/>
                <a:sym typeface="Aileron Bold"/>
              </a:rPr>
              <a:t>1. Cabinets </a:t>
            </a:r>
            <a:r>
              <a:rPr lang="en-US" sz="2799" b="1" dirty="0" err="1">
                <a:solidFill>
                  <a:srgbClr val="F8F3DD"/>
                </a:solidFill>
                <a:latin typeface="Aileron Bold"/>
                <a:ea typeface="Aileron Bold"/>
                <a:cs typeface="Aileron Bold"/>
                <a:sym typeface="Aileron Bold"/>
              </a:rPr>
              <a:t>d’architecture</a:t>
            </a:r>
            <a:endParaRPr lang="en-US" sz="2799" b="1" dirty="0">
              <a:solidFill>
                <a:srgbClr val="F8F3DD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60324" y="6271280"/>
            <a:ext cx="4252009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F8F3DD"/>
                </a:solidFill>
                <a:latin typeface="Aileron Bold"/>
                <a:ea typeface="Aileron Bold"/>
                <a:cs typeface="Aileron Bold"/>
                <a:sym typeface="Aileron Bold"/>
              </a:rPr>
              <a:t> 2. Designers d’intérieur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21996" y="6271280"/>
            <a:ext cx="7227391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F8F3DD"/>
                </a:solidFill>
                <a:latin typeface="Aileron Bold"/>
                <a:ea typeface="Aileron Bold"/>
                <a:cs typeface="Aileron Bold"/>
                <a:sym typeface="Aileron Bold"/>
              </a:rPr>
              <a:t>4. Rénovateurs / entrepreneurs / cuisinistes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83896" y="1641576"/>
            <a:ext cx="6785074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u="none" strike="noStrike" dirty="0">
                <a:solidFill>
                  <a:srgbClr val="F8F3DD"/>
                </a:solidFill>
                <a:latin typeface="Aileron Bold"/>
                <a:ea typeface="Aileron Bold"/>
                <a:cs typeface="Aileron Bold"/>
                <a:sym typeface="Aileron Bold"/>
              </a:rPr>
              <a:t>3. </a:t>
            </a:r>
            <a:r>
              <a:rPr lang="en-US" sz="2799" b="1" u="none" strike="noStrike" dirty="0" err="1">
                <a:solidFill>
                  <a:srgbClr val="F8F3DD"/>
                </a:solidFill>
                <a:latin typeface="Aileron Bold"/>
                <a:ea typeface="Aileron Bold"/>
                <a:cs typeface="Aileron Bold"/>
                <a:sym typeface="Aileron Bold"/>
              </a:rPr>
              <a:t>Promoteurs</a:t>
            </a:r>
            <a:r>
              <a:rPr lang="en-US" sz="2799" b="1" u="none" strike="noStrike" dirty="0">
                <a:solidFill>
                  <a:srgbClr val="F8F3DD"/>
                </a:solidFill>
                <a:latin typeface="Aileron Bold"/>
                <a:ea typeface="Aileron Bold"/>
                <a:cs typeface="Aileron Bold"/>
                <a:sym typeface="Aileron Bold"/>
              </a:rPr>
              <a:t> / </a:t>
            </a:r>
            <a:r>
              <a:rPr lang="en-US" sz="2799" b="1" u="none" strike="noStrike" dirty="0" err="1">
                <a:solidFill>
                  <a:srgbClr val="F8F3DD"/>
                </a:solidFill>
                <a:latin typeface="Aileron Bold"/>
                <a:ea typeface="Aileron Bold"/>
                <a:cs typeface="Aileron Bold"/>
                <a:sym typeface="Aileron Bold"/>
              </a:rPr>
              <a:t>entreprises</a:t>
            </a:r>
            <a:r>
              <a:rPr lang="en-US" sz="2799" b="1" u="none" strike="noStrike" dirty="0">
                <a:solidFill>
                  <a:srgbClr val="F8F3DD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799" b="1" u="none" strike="noStrike" dirty="0" err="1">
                <a:solidFill>
                  <a:srgbClr val="F8F3DD"/>
                </a:solidFill>
                <a:latin typeface="Aileron Bold"/>
                <a:ea typeface="Aileron Bold"/>
                <a:cs typeface="Aileron Bold"/>
                <a:sym typeface="Aileron Bold"/>
              </a:rPr>
              <a:t>immobilières</a:t>
            </a:r>
            <a:endParaRPr lang="en-US" sz="2799" b="1" u="none" strike="noStrike" dirty="0">
              <a:solidFill>
                <a:srgbClr val="F8F3DD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205684" y="3063657"/>
            <a:ext cx="3416312" cy="2715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Besoin : </a:t>
            </a:r>
          </a:p>
          <a:p>
            <a:pPr marL="475689" lvl="1" indent="-237844" algn="l">
              <a:lnSpc>
                <a:spcPts val="3084"/>
              </a:lnSpc>
              <a:buFont typeface="Arial"/>
              <a:buChar char="•"/>
            </a:pPr>
            <a:r>
              <a:rPr lang="en-US" sz="2203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présenter concepts </a:t>
            </a:r>
          </a:p>
          <a:p>
            <a:pPr marL="475689" lvl="1" indent="-237844" algn="l">
              <a:lnSpc>
                <a:spcPts val="3084"/>
              </a:lnSpc>
              <a:buFont typeface="Arial"/>
              <a:buChar char="•"/>
            </a:pPr>
            <a:r>
              <a:rPr lang="en-US" sz="2203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communiquer l'ambiance</a:t>
            </a:r>
          </a:p>
          <a:p>
            <a:pPr marL="475689" lvl="1" indent="-237844" algn="l">
              <a:lnSpc>
                <a:spcPts val="3084"/>
              </a:lnSpc>
              <a:buFont typeface="Arial"/>
              <a:buChar char="•"/>
            </a:pPr>
            <a:r>
              <a:rPr lang="en-US" sz="2203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montrer le projet avant sa construction.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05684" y="7153648"/>
            <a:ext cx="3416312" cy="1934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Besoin : </a:t>
            </a:r>
          </a:p>
          <a:p>
            <a:pPr marL="475689" lvl="1" indent="-237844" algn="l">
              <a:lnSpc>
                <a:spcPts val="3084"/>
              </a:lnSpc>
              <a:buFont typeface="Arial"/>
              <a:buChar char="•"/>
            </a:pPr>
            <a:r>
              <a:rPr lang="en-US" sz="2203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matériaux</a:t>
            </a:r>
          </a:p>
          <a:p>
            <a:pPr marL="475689" lvl="1" indent="-237844" algn="l">
              <a:lnSpc>
                <a:spcPts val="3084"/>
              </a:lnSpc>
              <a:buFont typeface="Arial"/>
              <a:buChar char="•"/>
            </a:pPr>
            <a:r>
              <a:rPr lang="en-US" sz="2203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l'aménagement </a:t>
            </a:r>
          </a:p>
          <a:p>
            <a:pPr marL="475689" lvl="1" indent="-237844" algn="l">
              <a:lnSpc>
                <a:spcPts val="3084"/>
              </a:lnSpc>
              <a:buFont typeface="Arial"/>
              <a:buChar char="•"/>
            </a:pPr>
            <a:r>
              <a:rPr lang="en-US" sz="2203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résultat final  avant de commencer.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80189" y="2954359"/>
            <a:ext cx="3857114" cy="3106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Besoin : vendre ou présenter un projet avant la construction → Rendus</a:t>
            </a:r>
          </a:p>
          <a:p>
            <a:pPr marL="475689" lvl="1" indent="-237844" algn="l">
              <a:lnSpc>
                <a:spcPts val="3084"/>
              </a:lnSpc>
              <a:buFont typeface="Arial"/>
              <a:buChar char="•"/>
            </a:pPr>
            <a:r>
              <a:rPr lang="en-US" sz="2203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extérieurs</a:t>
            </a:r>
          </a:p>
          <a:p>
            <a:pPr marL="475689" lvl="1" indent="-237844" algn="l">
              <a:lnSpc>
                <a:spcPts val="3084"/>
              </a:lnSpc>
              <a:buFont typeface="Arial"/>
              <a:buChar char="•"/>
            </a:pPr>
            <a:r>
              <a:rPr lang="en-US" sz="2203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intérieurs</a:t>
            </a:r>
          </a:p>
          <a:p>
            <a:pPr marL="475689" lvl="1" indent="-237844" algn="l">
              <a:lnSpc>
                <a:spcPts val="3084"/>
              </a:lnSpc>
              <a:buFont typeface="Arial"/>
              <a:buChar char="•"/>
            </a:pPr>
            <a:r>
              <a:rPr lang="en-US" sz="2203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animations</a:t>
            </a:r>
          </a:p>
          <a:p>
            <a:pPr marL="475689" lvl="1" indent="-237844" algn="l">
              <a:lnSpc>
                <a:spcPts val="3084"/>
              </a:lnSpc>
              <a:buFont typeface="Arial"/>
              <a:buChar char="•"/>
            </a:pPr>
            <a:r>
              <a:rPr lang="en-US" sz="2203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plans 3D </a:t>
            </a:r>
          </a:p>
          <a:p>
            <a:pPr marL="475689" lvl="1" indent="-237844" algn="l">
              <a:lnSpc>
                <a:spcPts val="3084"/>
              </a:lnSpc>
              <a:buFont typeface="Arial"/>
              <a:buChar char="•"/>
            </a:pPr>
            <a:r>
              <a:rPr lang="en-US" sz="2203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visites 360°.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617640" y="7153648"/>
            <a:ext cx="4019663" cy="1934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Besoin : </a:t>
            </a:r>
          </a:p>
          <a:p>
            <a:pPr marL="475689" lvl="1" indent="-237844" algn="l">
              <a:lnSpc>
                <a:spcPts val="3084"/>
              </a:lnSpc>
              <a:buFont typeface="Arial"/>
              <a:buChar char="•"/>
            </a:pPr>
            <a:r>
              <a:rPr lang="en-US" sz="2203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permettre de faire voir le résultat avant de rénover</a:t>
            </a:r>
          </a:p>
          <a:p>
            <a:pPr marL="475689" lvl="1" indent="-237844" algn="l">
              <a:lnSpc>
                <a:spcPts val="3084"/>
              </a:lnSpc>
              <a:buFont typeface="Arial"/>
              <a:buChar char="•"/>
            </a:pPr>
            <a:r>
              <a:rPr lang="en-US" sz="2203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Faciliter la validation du projet.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91950" y="263815"/>
            <a:ext cx="1326334" cy="1736345"/>
            <a:chOff x="0" y="0"/>
            <a:chExt cx="1768445" cy="2315126"/>
          </a:xfrm>
        </p:grpSpPr>
        <p:grpSp>
          <p:nvGrpSpPr>
            <p:cNvPr id="28" name="Group 28"/>
            <p:cNvGrpSpPr/>
            <p:nvPr/>
          </p:nvGrpSpPr>
          <p:grpSpPr>
            <a:xfrm rot="-5400000">
              <a:off x="-249988" y="296692"/>
              <a:ext cx="2315126" cy="1721741"/>
              <a:chOff x="0" y="0"/>
              <a:chExt cx="1532476" cy="113969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532476" cy="1139691"/>
              </a:xfrm>
              <a:custGeom>
                <a:avLst/>
                <a:gdLst/>
                <a:ahLst/>
                <a:cxnLst/>
                <a:rect l="l" t="t" r="r" b="b"/>
                <a:pathLst>
                  <a:path w="1532476" h="1139691">
                    <a:moveTo>
                      <a:pt x="227396" y="0"/>
                    </a:moveTo>
                    <a:lnTo>
                      <a:pt x="1305080" y="0"/>
                    </a:lnTo>
                    <a:cubicBezTo>
                      <a:pt x="1430667" y="0"/>
                      <a:pt x="1532476" y="101809"/>
                      <a:pt x="1532476" y="227396"/>
                    </a:cubicBezTo>
                    <a:lnTo>
                      <a:pt x="1532476" y="912295"/>
                    </a:lnTo>
                    <a:cubicBezTo>
                      <a:pt x="1532476" y="972604"/>
                      <a:pt x="1508518" y="1030443"/>
                      <a:pt x="1465873" y="1073088"/>
                    </a:cubicBezTo>
                    <a:cubicBezTo>
                      <a:pt x="1423228" y="1115733"/>
                      <a:pt x="1365389" y="1139691"/>
                      <a:pt x="1305080" y="1139691"/>
                    </a:cubicBezTo>
                    <a:lnTo>
                      <a:pt x="227396" y="1139691"/>
                    </a:lnTo>
                    <a:cubicBezTo>
                      <a:pt x="167087" y="1139691"/>
                      <a:pt x="109248" y="1115733"/>
                      <a:pt x="66603" y="1073088"/>
                    </a:cubicBezTo>
                    <a:cubicBezTo>
                      <a:pt x="23958" y="1030443"/>
                      <a:pt x="0" y="972604"/>
                      <a:pt x="0" y="912295"/>
                    </a:cubicBezTo>
                    <a:lnTo>
                      <a:pt x="0" y="227396"/>
                    </a:lnTo>
                    <a:cubicBezTo>
                      <a:pt x="0" y="167087"/>
                      <a:pt x="23958" y="109248"/>
                      <a:pt x="66603" y="66603"/>
                    </a:cubicBezTo>
                    <a:cubicBezTo>
                      <a:pt x="109248" y="23958"/>
                      <a:pt x="167087" y="0"/>
                      <a:pt x="227396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532476" cy="11777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72943" y="1605607"/>
              <a:ext cx="1605699" cy="510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8"/>
                </a:lnSpc>
                <a:spcBef>
                  <a:spcPct val="0"/>
                </a:spcBef>
              </a:pPr>
              <a:r>
                <a:rPr lang="en-US" sz="2241">
                  <a:solidFill>
                    <a:srgbClr val="F8F3DD"/>
                  </a:soli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STUDIOS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468229"/>
              <a:ext cx="1751585" cy="1258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554"/>
                </a:lnSpc>
              </a:pPr>
              <a:r>
                <a:rPr lang="en-US" sz="5395" spc="-302">
                  <a:gradFill>
                    <a:gsLst>
                      <a:gs pos="0">
                        <a:srgbClr val="FEFFFF">
                          <a:alpha val="100000"/>
                        </a:srgbClr>
                      </a:gs>
                      <a:gs pos="100000">
                        <a:srgbClr val="C5C5C5">
                          <a:alpha val="100000"/>
                        </a:srgbClr>
                      </a:gs>
                    </a:gsLst>
                    <a:lin ang="5400000"/>
                  </a:gra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ARK</a:t>
              </a:r>
            </a:p>
          </p:txBody>
        </p:sp>
        <p:sp>
          <p:nvSpPr>
            <p:cNvPr id="33" name="Freeform 33"/>
            <p:cNvSpPr/>
            <p:nvPr/>
          </p:nvSpPr>
          <p:spPr>
            <a:xfrm rot="-10800000">
              <a:off x="498517" y="256975"/>
              <a:ext cx="818115" cy="400876"/>
            </a:xfrm>
            <a:custGeom>
              <a:avLst/>
              <a:gdLst/>
              <a:ahLst/>
              <a:cxnLst/>
              <a:rect l="l" t="t" r="r" b="b"/>
              <a:pathLst>
                <a:path w="818115" h="400876">
                  <a:moveTo>
                    <a:pt x="0" y="0"/>
                  </a:moveTo>
                  <a:lnTo>
                    <a:pt x="818115" y="0"/>
                  </a:lnTo>
                  <a:lnTo>
                    <a:pt x="818115" y="400876"/>
                  </a:lnTo>
                  <a:lnTo>
                    <a:pt x="0" y="400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CA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3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632444"/>
            <a:ext cx="8115300" cy="3162282"/>
            <a:chOff x="0" y="0"/>
            <a:chExt cx="2810372" cy="10951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10372" cy="1095115"/>
            </a:xfrm>
            <a:custGeom>
              <a:avLst/>
              <a:gdLst/>
              <a:ahLst/>
              <a:cxnLst/>
              <a:rect l="l" t="t" r="r" b="b"/>
              <a:pathLst>
                <a:path w="2810372" h="1095115">
                  <a:moveTo>
                    <a:pt x="48654" y="0"/>
                  </a:moveTo>
                  <a:lnTo>
                    <a:pt x="2761718" y="0"/>
                  </a:lnTo>
                  <a:cubicBezTo>
                    <a:pt x="2788589" y="0"/>
                    <a:pt x="2810372" y="21783"/>
                    <a:pt x="2810372" y="48654"/>
                  </a:cubicBezTo>
                  <a:lnTo>
                    <a:pt x="2810372" y="1046462"/>
                  </a:lnTo>
                  <a:cubicBezTo>
                    <a:pt x="2810372" y="1073332"/>
                    <a:pt x="2788589" y="1095115"/>
                    <a:pt x="2761718" y="1095115"/>
                  </a:cubicBezTo>
                  <a:lnTo>
                    <a:pt x="48654" y="1095115"/>
                  </a:lnTo>
                  <a:cubicBezTo>
                    <a:pt x="21783" y="1095115"/>
                    <a:pt x="0" y="1073332"/>
                    <a:pt x="0" y="1046462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68523F"/>
            </a:solidFill>
          </p:spPr>
          <p:txBody>
            <a:bodyPr/>
            <a:lstStyle/>
            <a:p>
              <a:endParaRPr lang="fr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10372" cy="11332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16237" y="1958409"/>
            <a:ext cx="7651340" cy="555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7"/>
              </a:lnSpc>
              <a:spcBef>
                <a:spcPct val="0"/>
              </a:spcBef>
            </a:pPr>
            <a:r>
              <a:rPr lang="en-US" sz="3248" b="1">
                <a:solidFill>
                  <a:srgbClr val="F8F3DD"/>
                </a:solidFill>
                <a:latin typeface="Aileron Bold"/>
                <a:ea typeface="Aileron Bold"/>
                <a:cs typeface="Aileron Bold"/>
                <a:sym typeface="Aileron Bold"/>
              </a:rPr>
              <a:t>MODÉLISATION 3D  250–600 $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82466" y="2833182"/>
            <a:ext cx="7385111" cy="2556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4"/>
              </a:lnSpc>
            </a:pPr>
            <a:r>
              <a:rPr lang="en-US" sz="2631" b="1">
                <a:solidFill>
                  <a:srgbClr val="F8F3D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Transformation de plans, croquis ou informations du projet en modèle 3D.</a:t>
            </a:r>
          </a:p>
          <a:p>
            <a:pPr marL="503446" lvl="1" indent="-251723" algn="l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Architecture intérieure et extérieure</a:t>
            </a:r>
          </a:p>
          <a:p>
            <a:pPr marL="503446" lvl="1" indent="-251723" algn="l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Mobilier et aménagement</a:t>
            </a:r>
          </a:p>
          <a:p>
            <a:pPr marL="503446" lvl="1" indent="-251723" algn="l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Matériaux et textures</a:t>
            </a:r>
          </a:p>
          <a:p>
            <a:pPr marL="503446" lvl="1" indent="-251723" algn="l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Environnement du projet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79616" y="6703616"/>
            <a:ext cx="8164384" cy="3162282"/>
            <a:chOff x="0" y="0"/>
            <a:chExt cx="2827370" cy="10951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27370" cy="1095115"/>
            </a:xfrm>
            <a:custGeom>
              <a:avLst/>
              <a:gdLst/>
              <a:ahLst/>
              <a:cxnLst/>
              <a:rect l="l" t="t" r="r" b="b"/>
              <a:pathLst>
                <a:path w="2827370" h="1095115">
                  <a:moveTo>
                    <a:pt x="48361" y="0"/>
                  </a:moveTo>
                  <a:lnTo>
                    <a:pt x="2779009" y="0"/>
                  </a:lnTo>
                  <a:cubicBezTo>
                    <a:pt x="2805718" y="0"/>
                    <a:pt x="2827370" y="21652"/>
                    <a:pt x="2827370" y="48361"/>
                  </a:cubicBezTo>
                  <a:lnTo>
                    <a:pt x="2827370" y="1046754"/>
                  </a:lnTo>
                  <a:cubicBezTo>
                    <a:pt x="2827370" y="1073463"/>
                    <a:pt x="2805718" y="1095115"/>
                    <a:pt x="2779009" y="1095115"/>
                  </a:cubicBezTo>
                  <a:lnTo>
                    <a:pt x="48361" y="1095115"/>
                  </a:lnTo>
                  <a:cubicBezTo>
                    <a:pt x="21652" y="1095115"/>
                    <a:pt x="0" y="1073463"/>
                    <a:pt x="0" y="1046754"/>
                  </a:cubicBezTo>
                  <a:lnTo>
                    <a:pt x="0" y="48361"/>
                  </a:lnTo>
                  <a:cubicBezTo>
                    <a:pt x="0" y="21652"/>
                    <a:pt x="21652" y="0"/>
                    <a:pt x="48361" y="0"/>
                  </a:cubicBezTo>
                  <a:close/>
                </a:path>
              </a:pathLst>
            </a:custGeom>
            <a:solidFill>
              <a:srgbClr val="68523F"/>
            </a:solidFill>
          </p:spPr>
          <p:txBody>
            <a:bodyPr/>
            <a:lstStyle/>
            <a:p>
              <a:endParaRPr lang="fr-C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27370" cy="11332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19067" y="6106326"/>
            <a:ext cx="6645681" cy="55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47"/>
              </a:lnSpc>
              <a:spcBef>
                <a:spcPct val="0"/>
              </a:spcBef>
            </a:pPr>
            <a:r>
              <a:rPr lang="en-US" sz="3248" b="1" u="none" strike="noStrike">
                <a:solidFill>
                  <a:srgbClr val="F8F3DD"/>
                </a:solidFill>
                <a:latin typeface="Aileron Bold"/>
                <a:ea typeface="Aileron Bold"/>
                <a:cs typeface="Aileron Bold"/>
                <a:sym typeface="Aileron Bold"/>
              </a:rPr>
              <a:t>VISUALISATION   300–450 $ / VUE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2234" y="6887746"/>
            <a:ext cx="7921582" cy="2508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2649" b="1">
                <a:solidFill>
                  <a:srgbClr val="F8F3D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Transformation du modèle en images réalistes.</a:t>
            </a:r>
          </a:p>
          <a:p>
            <a:pPr marL="507185" lvl="1" indent="-253592" algn="l">
              <a:lnSpc>
                <a:spcPts val="3288"/>
              </a:lnSpc>
              <a:buFont typeface="Arial"/>
              <a:buChar char="•"/>
            </a:pPr>
            <a:r>
              <a:rPr lang="en-US" sz="2349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Rendus intérieurs</a:t>
            </a:r>
          </a:p>
          <a:p>
            <a:pPr marL="507185" lvl="1" indent="-253592" algn="l">
              <a:lnSpc>
                <a:spcPts val="3288"/>
              </a:lnSpc>
              <a:buFont typeface="Arial"/>
              <a:buChar char="•"/>
            </a:pPr>
            <a:r>
              <a:rPr lang="en-US" sz="2349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Rendus extérieurs</a:t>
            </a:r>
          </a:p>
          <a:p>
            <a:pPr marL="507185" lvl="1" indent="-253592" algn="l">
              <a:lnSpc>
                <a:spcPts val="3288"/>
              </a:lnSpc>
              <a:buFont typeface="Arial"/>
              <a:buChar char="•"/>
            </a:pPr>
            <a:r>
              <a:rPr lang="en-US" sz="2349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Vues aériennes / environnement</a:t>
            </a:r>
          </a:p>
          <a:p>
            <a:pPr marL="507185" lvl="1" indent="-253592" algn="l">
              <a:lnSpc>
                <a:spcPts val="3288"/>
              </a:lnSpc>
              <a:buFont typeface="Arial"/>
              <a:buChar char="•"/>
            </a:pPr>
            <a:r>
              <a:rPr lang="en-US" sz="2349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Différentes variantes de matériaux ou d’aménagement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53199" y="1958409"/>
            <a:ext cx="6906101" cy="55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47"/>
              </a:lnSpc>
              <a:spcBef>
                <a:spcPct val="0"/>
              </a:spcBef>
            </a:pPr>
            <a:r>
              <a:rPr lang="en-US" sz="3248" b="1" u="none" strike="noStrike">
                <a:solidFill>
                  <a:srgbClr val="F8F3DD"/>
                </a:solidFill>
                <a:latin typeface="Aileron Bold"/>
                <a:ea typeface="Aileron Bold"/>
                <a:cs typeface="Aileron Bold"/>
                <a:sym typeface="Aileron Bold"/>
              </a:rPr>
              <a:t>ANIMATION &amp; 360°  500–1 200 $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503621" y="2632444"/>
            <a:ext cx="8115300" cy="3162282"/>
            <a:chOff x="0" y="0"/>
            <a:chExt cx="2810372" cy="10951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10372" cy="1095115"/>
            </a:xfrm>
            <a:custGeom>
              <a:avLst/>
              <a:gdLst/>
              <a:ahLst/>
              <a:cxnLst/>
              <a:rect l="l" t="t" r="r" b="b"/>
              <a:pathLst>
                <a:path w="2810372" h="1095115">
                  <a:moveTo>
                    <a:pt x="48654" y="0"/>
                  </a:moveTo>
                  <a:lnTo>
                    <a:pt x="2761718" y="0"/>
                  </a:lnTo>
                  <a:cubicBezTo>
                    <a:pt x="2788589" y="0"/>
                    <a:pt x="2810372" y="21783"/>
                    <a:pt x="2810372" y="48654"/>
                  </a:cubicBezTo>
                  <a:lnTo>
                    <a:pt x="2810372" y="1046462"/>
                  </a:lnTo>
                  <a:cubicBezTo>
                    <a:pt x="2810372" y="1073332"/>
                    <a:pt x="2788589" y="1095115"/>
                    <a:pt x="2761718" y="1095115"/>
                  </a:cubicBezTo>
                  <a:lnTo>
                    <a:pt x="48654" y="1095115"/>
                  </a:lnTo>
                  <a:cubicBezTo>
                    <a:pt x="21783" y="1095115"/>
                    <a:pt x="0" y="1073332"/>
                    <a:pt x="0" y="1046462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68523F"/>
            </a:solidFill>
          </p:spPr>
          <p:txBody>
            <a:bodyPr/>
            <a:lstStyle/>
            <a:p>
              <a:endParaRPr lang="fr-CA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10372" cy="11332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873721" y="2799607"/>
            <a:ext cx="7490227" cy="2942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3"/>
              </a:lnSpc>
            </a:pPr>
            <a:r>
              <a:rPr lang="en-US" sz="2588" b="1">
                <a:solidFill>
                  <a:srgbClr val="F8F3D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 projet devient une expérience plutôt qu'une simple image.</a:t>
            </a:r>
          </a:p>
          <a:p>
            <a:pPr marL="515595" lvl="1" indent="-257798" algn="l">
              <a:lnSpc>
                <a:spcPts val="3343"/>
              </a:lnSpc>
              <a:buFont typeface="Arial"/>
              <a:buChar char="•"/>
            </a:pPr>
            <a:r>
              <a:rPr lang="en-US" sz="2388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Vidéos de présentation</a:t>
            </a:r>
          </a:p>
          <a:p>
            <a:pPr marL="515595" lvl="1" indent="-257798" algn="l">
              <a:lnSpc>
                <a:spcPts val="3343"/>
              </a:lnSpc>
              <a:buFont typeface="Arial"/>
              <a:buChar char="•"/>
            </a:pPr>
            <a:r>
              <a:rPr lang="en-US" sz="2388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Animations de 20–30 secondes</a:t>
            </a:r>
          </a:p>
          <a:p>
            <a:pPr marL="515595" lvl="1" indent="-257798" algn="l">
              <a:lnSpc>
                <a:spcPts val="3343"/>
              </a:lnSpc>
              <a:buFont typeface="Arial"/>
              <a:buChar char="•"/>
            </a:pPr>
            <a:r>
              <a:rPr lang="en-US" sz="2388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Vues panoramiques 360°</a:t>
            </a:r>
          </a:p>
          <a:p>
            <a:pPr marL="515595" lvl="1" indent="-257798" algn="l">
              <a:lnSpc>
                <a:spcPts val="3343"/>
              </a:lnSpc>
              <a:buFont typeface="Arial"/>
              <a:buChar char="•"/>
            </a:pPr>
            <a:r>
              <a:rPr lang="en-US" sz="2388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Visites virtuelles</a:t>
            </a:r>
          </a:p>
          <a:p>
            <a:pPr algn="l">
              <a:lnSpc>
                <a:spcPts val="2783"/>
              </a:lnSpc>
            </a:pPr>
            <a:endParaRPr lang="en-US" sz="2388">
              <a:solidFill>
                <a:srgbClr val="F8F3DD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9503621" y="6703616"/>
            <a:ext cx="8164384" cy="3162282"/>
            <a:chOff x="0" y="0"/>
            <a:chExt cx="2827370" cy="109511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827370" cy="1095115"/>
            </a:xfrm>
            <a:custGeom>
              <a:avLst/>
              <a:gdLst/>
              <a:ahLst/>
              <a:cxnLst/>
              <a:rect l="l" t="t" r="r" b="b"/>
              <a:pathLst>
                <a:path w="2827370" h="1095115">
                  <a:moveTo>
                    <a:pt x="48361" y="0"/>
                  </a:moveTo>
                  <a:lnTo>
                    <a:pt x="2779009" y="0"/>
                  </a:lnTo>
                  <a:cubicBezTo>
                    <a:pt x="2805718" y="0"/>
                    <a:pt x="2827370" y="21652"/>
                    <a:pt x="2827370" y="48361"/>
                  </a:cubicBezTo>
                  <a:lnTo>
                    <a:pt x="2827370" y="1046754"/>
                  </a:lnTo>
                  <a:cubicBezTo>
                    <a:pt x="2827370" y="1073463"/>
                    <a:pt x="2805718" y="1095115"/>
                    <a:pt x="2779009" y="1095115"/>
                  </a:cubicBezTo>
                  <a:lnTo>
                    <a:pt x="48361" y="1095115"/>
                  </a:lnTo>
                  <a:cubicBezTo>
                    <a:pt x="21652" y="1095115"/>
                    <a:pt x="0" y="1073463"/>
                    <a:pt x="0" y="1046754"/>
                  </a:cubicBezTo>
                  <a:lnTo>
                    <a:pt x="0" y="48361"/>
                  </a:lnTo>
                  <a:cubicBezTo>
                    <a:pt x="0" y="21652"/>
                    <a:pt x="21652" y="0"/>
                    <a:pt x="48361" y="0"/>
                  </a:cubicBezTo>
                  <a:close/>
                </a:path>
              </a:pathLst>
            </a:custGeom>
            <a:solidFill>
              <a:srgbClr val="68523F"/>
            </a:solidFill>
          </p:spPr>
          <p:txBody>
            <a:bodyPr/>
            <a:lstStyle/>
            <a:p>
              <a:endParaRPr lang="fr-CA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827370" cy="11332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01053" y="6108864"/>
            <a:ext cx="7210394" cy="556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47"/>
              </a:lnSpc>
              <a:spcBef>
                <a:spcPct val="0"/>
              </a:spcBef>
            </a:pPr>
            <a:r>
              <a:rPr lang="en-US" sz="3248" b="1" u="none" strike="noStrike">
                <a:solidFill>
                  <a:srgbClr val="F8F3DD"/>
                </a:solidFill>
                <a:latin typeface="Aileron Bold"/>
                <a:ea typeface="Aileron Bold"/>
                <a:cs typeface="Aileron Bold"/>
                <a:sym typeface="Aileron Bold"/>
              </a:rPr>
              <a:t>3D INTERACTIVE  1 000–2 500 $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69073" y="6846491"/>
            <a:ext cx="7642374" cy="2928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7"/>
              </a:lnSpc>
            </a:pPr>
            <a:r>
              <a:rPr lang="en-US" sz="2555" b="1">
                <a:solidFill>
                  <a:srgbClr val="F8F3D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 projet devient une expérience plutôt qu'une simple image.</a:t>
            </a:r>
          </a:p>
          <a:p>
            <a:pPr marL="508446" lvl="1" indent="-254223" algn="l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Intégration web directe sans logiciel tiers</a:t>
            </a:r>
          </a:p>
          <a:p>
            <a:pPr marL="508446" lvl="1" indent="-254223" algn="l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Maquettes et cartes 3D interactives</a:t>
            </a:r>
          </a:p>
          <a:p>
            <a:pPr marL="508446" lvl="1" indent="-254223" algn="l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Points d'intérêt et informations dynamiques</a:t>
            </a:r>
          </a:p>
          <a:p>
            <a:pPr marL="508446" lvl="1" indent="-254223" algn="l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Navigation fluide sur mobile, tablette et ordinateur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54852" y="59628"/>
            <a:ext cx="7056348" cy="1423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2598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LES SERVICES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91950" y="263815"/>
            <a:ext cx="1326334" cy="1736345"/>
            <a:chOff x="0" y="0"/>
            <a:chExt cx="1768445" cy="2315126"/>
          </a:xfrm>
        </p:grpSpPr>
        <p:grpSp>
          <p:nvGrpSpPr>
            <p:cNvPr id="24" name="Group 24"/>
            <p:cNvGrpSpPr/>
            <p:nvPr/>
          </p:nvGrpSpPr>
          <p:grpSpPr>
            <a:xfrm rot="-5400000">
              <a:off x="-249988" y="296692"/>
              <a:ext cx="2315126" cy="1721741"/>
              <a:chOff x="0" y="0"/>
              <a:chExt cx="1532476" cy="113969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532476" cy="1139691"/>
              </a:xfrm>
              <a:custGeom>
                <a:avLst/>
                <a:gdLst/>
                <a:ahLst/>
                <a:cxnLst/>
                <a:rect l="l" t="t" r="r" b="b"/>
                <a:pathLst>
                  <a:path w="1532476" h="1139691">
                    <a:moveTo>
                      <a:pt x="227396" y="0"/>
                    </a:moveTo>
                    <a:lnTo>
                      <a:pt x="1305080" y="0"/>
                    </a:lnTo>
                    <a:cubicBezTo>
                      <a:pt x="1430667" y="0"/>
                      <a:pt x="1532476" y="101809"/>
                      <a:pt x="1532476" y="227396"/>
                    </a:cubicBezTo>
                    <a:lnTo>
                      <a:pt x="1532476" y="912295"/>
                    </a:lnTo>
                    <a:cubicBezTo>
                      <a:pt x="1532476" y="972604"/>
                      <a:pt x="1508518" y="1030443"/>
                      <a:pt x="1465873" y="1073088"/>
                    </a:cubicBezTo>
                    <a:cubicBezTo>
                      <a:pt x="1423228" y="1115733"/>
                      <a:pt x="1365389" y="1139691"/>
                      <a:pt x="1305080" y="1139691"/>
                    </a:cubicBezTo>
                    <a:lnTo>
                      <a:pt x="227396" y="1139691"/>
                    </a:lnTo>
                    <a:cubicBezTo>
                      <a:pt x="167087" y="1139691"/>
                      <a:pt x="109248" y="1115733"/>
                      <a:pt x="66603" y="1073088"/>
                    </a:cubicBezTo>
                    <a:cubicBezTo>
                      <a:pt x="23958" y="1030443"/>
                      <a:pt x="0" y="972604"/>
                      <a:pt x="0" y="912295"/>
                    </a:cubicBezTo>
                    <a:lnTo>
                      <a:pt x="0" y="227396"/>
                    </a:lnTo>
                    <a:cubicBezTo>
                      <a:pt x="0" y="167087"/>
                      <a:pt x="23958" y="109248"/>
                      <a:pt x="66603" y="66603"/>
                    </a:cubicBezTo>
                    <a:cubicBezTo>
                      <a:pt x="109248" y="23958"/>
                      <a:pt x="167087" y="0"/>
                      <a:pt x="227396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532476" cy="11777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72943" y="1605607"/>
              <a:ext cx="1605699" cy="510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8"/>
                </a:lnSpc>
                <a:spcBef>
                  <a:spcPct val="0"/>
                </a:spcBef>
              </a:pPr>
              <a:r>
                <a:rPr lang="en-US" sz="2241">
                  <a:solidFill>
                    <a:srgbClr val="F8F3DD"/>
                  </a:soli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STUDIOS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468229"/>
              <a:ext cx="1751585" cy="1258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554"/>
                </a:lnSpc>
              </a:pPr>
              <a:r>
                <a:rPr lang="en-US" sz="5395" spc="-302">
                  <a:gradFill>
                    <a:gsLst>
                      <a:gs pos="0">
                        <a:srgbClr val="FEFFFF">
                          <a:alpha val="100000"/>
                        </a:srgbClr>
                      </a:gs>
                      <a:gs pos="100000">
                        <a:srgbClr val="C5C5C5">
                          <a:alpha val="100000"/>
                        </a:srgbClr>
                      </a:gs>
                    </a:gsLst>
                    <a:lin ang="5400000"/>
                  </a:gra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ARK</a:t>
              </a:r>
            </a:p>
          </p:txBody>
        </p:sp>
        <p:sp>
          <p:nvSpPr>
            <p:cNvPr id="29" name="Freeform 29"/>
            <p:cNvSpPr/>
            <p:nvPr/>
          </p:nvSpPr>
          <p:spPr>
            <a:xfrm rot="-10800000">
              <a:off x="498517" y="256975"/>
              <a:ext cx="818115" cy="400876"/>
            </a:xfrm>
            <a:custGeom>
              <a:avLst/>
              <a:gdLst/>
              <a:ahLst/>
              <a:cxnLst/>
              <a:rect l="l" t="t" r="r" b="b"/>
              <a:pathLst>
                <a:path w="818115" h="400876">
                  <a:moveTo>
                    <a:pt x="0" y="0"/>
                  </a:moveTo>
                  <a:lnTo>
                    <a:pt x="818115" y="0"/>
                  </a:lnTo>
                  <a:lnTo>
                    <a:pt x="818115" y="400876"/>
                  </a:lnTo>
                  <a:lnTo>
                    <a:pt x="0" y="400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CA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3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909689" y="128523"/>
            <a:ext cx="14412473" cy="1419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2598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ANALYSE DE LA CONCURRENCE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91950" y="263815"/>
            <a:ext cx="1326334" cy="1736345"/>
            <a:chOff x="0" y="0"/>
            <a:chExt cx="1768445" cy="2315126"/>
          </a:xfrm>
        </p:grpSpPr>
        <p:grpSp>
          <p:nvGrpSpPr>
            <p:cNvPr id="5" name="Group 5"/>
            <p:cNvGrpSpPr/>
            <p:nvPr/>
          </p:nvGrpSpPr>
          <p:grpSpPr>
            <a:xfrm rot="-5400000">
              <a:off x="-249988" y="296692"/>
              <a:ext cx="2315126" cy="1721741"/>
              <a:chOff x="0" y="0"/>
              <a:chExt cx="1532476" cy="113969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532476" cy="1139691"/>
              </a:xfrm>
              <a:custGeom>
                <a:avLst/>
                <a:gdLst/>
                <a:ahLst/>
                <a:cxnLst/>
                <a:rect l="l" t="t" r="r" b="b"/>
                <a:pathLst>
                  <a:path w="1532476" h="1139691">
                    <a:moveTo>
                      <a:pt x="227396" y="0"/>
                    </a:moveTo>
                    <a:lnTo>
                      <a:pt x="1305080" y="0"/>
                    </a:lnTo>
                    <a:cubicBezTo>
                      <a:pt x="1430667" y="0"/>
                      <a:pt x="1532476" y="101809"/>
                      <a:pt x="1532476" y="227396"/>
                    </a:cubicBezTo>
                    <a:lnTo>
                      <a:pt x="1532476" y="912295"/>
                    </a:lnTo>
                    <a:cubicBezTo>
                      <a:pt x="1532476" y="972604"/>
                      <a:pt x="1508518" y="1030443"/>
                      <a:pt x="1465873" y="1073088"/>
                    </a:cubicBezTo>
                    <a:cubicBezTo>
                      <a:pt x="1423228" y="1115733"/>
                      <a:pt x="1365389" y="1139691"/>
                      <a:pt x="1305080" y="1139691"/>
                    </a:cubicBezTo>
                    <a:lnTo>
                      <a:pt x="227396" y="1139691"/>
                    </a:lnTo>
                    <a:cubicBezTo>
                      <a:pt x="167087" y="1139691"/>
                      <a:pt x="109248" y="1115733"/>
                      <a:pt x="66603" y="1073088"/>
                    </a:cubicBezTo>
                    <a:cubicBezTo>
                      <a:pt x="23958" y="1030443"/>
                      <a:pt x="0" y="972604"/>
                      <a:pt x="0" y="912295"/>
                    </a:cubicBezTo>
                    <a:lnTo>
                      <a:pt x="0" y="227396"/>
                    </a:lnTo>
                    <a:cubicBezTo>
                      <a:pt x="0" y="167087"/>
                      <a:pt x="23958" y="109248"/>
                      <a:pt x="66603" y="66603"/>
                    </a:cubicBezTo>
                    <a:cubicBezTo>
                      <a:pt x="109248" y="23958"/>
                      <a:pt x="167087" y="0"/>
                      <a:pt x="227396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1532476" cy="11777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72943" y="1605607"/>
              <a:ext cx="1605699" cy="510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8"/>
                </a:lnSpc>
                <a:spcBef>
                  <a:spcPct val="0"/>
                </a:spcBef>
              </a:pPr>
              <a:r>
                <a:rPr lang="en-US" sz="2241">
                  <a:solidFill>
                    <a:srgbClr val="F8F3DD"/>
                  </a:soli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STUDIOS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68229"/>
              <a:ext cx="1751585" cy="1258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554"/>
                </a:lnSpc>
              </a:pPr>
              <a:r>
                <a:rPr lang="en-US" sz="5395" spc="-302">
                  <a:gradFill>
                    <a:gsLst>
                      <a:gs pos="0">
                        <a:srgbClr val="FEFFFF">
                          <a:alpha val="100000"/>
                        </a:srgbClr>
                      </a:gs>
                      <a:gs pos="100000">
                        <a:srgbClr val="C5C5C5">
                          <a:alpha val="100000"/>
                        </a:srgbClr>
                      </a:gs>
                    </a:gsLst>
                    <a:lin ang="5400000"/>
                  </a:gra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ARK</a:t>
              </a:r>
            </a:p>
          </p:txBody>
        </p:sp>
        <p:sp>
          <p:nvSpPr>
            <p:cNvPr id="10" name="Freeform 10"/>
            <p:cNvSpPr/>
            <p:nvPr/>
          </p:nvSpPr>
          <p:spPr>
            <a:xfrm rot="-10800000">
              <a:off x="498517" y="256975"/>
              <a:ext cx="818115" cy="400876"/>
            </a:xfrm>
            <a:custGeom>
              <a:avLst/>
              <a:gdLst/>
              <a:ahLst/>
              <a:cxnLst/>
              <a:rect l="l" t="t" r="r" b="b"/>
              <a:pathLst>
                <a:path w="818115" h="400876">
                  <a:moveTo>
                    <a:pt x="0" y="0"/>
                  </a:moveTo>
                  <a:lnTo>
                    <a:pt x="818115" y="0"/>
                  </a:lnTo>
                  <a:lnTo>
                    <a:pt x="818115" y="400876"/>
                  </a:lnTo>
                  <a:lnTo>
                    <a:pt x="0" y="400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CA"/>
            </a:p>
          </p:txBody>
        </p:sp>
      </p:grpSp>
      <p:pic>
        <p:nvPicPr>
          <p:cNvPr id="12" name="Image 11">
            <a:extLst>
              <a:ext uri="{FF2B5EF4-FFF2-40B4-BE49-F238E27FC236}">
                <a16:creationId xmlns:a16="http://schemas.microsoft.com/office/drawing/2014/main" id="{76623663-9C93-CD62-89E7-59B175AD5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09" y="2269398"/>
            <a:ext cx="17515405" cy="7320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3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657" r="657"/>
          <a:stretch>
            <a:fillRect/>
          </a:stretch>
        </p:blipFill>
        <p:spPr>
          <a:xfrm>
            <a:off x="2236135" y="1857289"/>
            <a:ext cx="13815729" cy="7874966"/>
          </a:xfrm>
          <a:prstGeom prst="rect">
            <a:avLst/>
          </a:prstGeom>
          <a:ln w="47625" cap="sq">
            <a:solidFill>
              <a:srgbClr val="FBFAF9"/>
            </a:solidFill>
            <a:prstDash val="solid"/>
          </a:ln>
        </p:spPr>
      </p:pic>
      <p:sp>
        <p:nvSpPr>
          <p:cNvPr id="3" name="TextBox 3"/>
          <p:cNvSpPr txBox="1"/>
          <p:nvPr/>
        </p:nvSpPr>
        <p:spPr>
          <a:xfrm>
            <a:off x="6588770" y="452953"/>
            <a:ext cx="6060430" cy="1028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F8F3D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SOLUTION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91950" y="263815"/>
            <a:ext cx="1326334" cy="1736345"/>
            <a:chOff x="0" y="0"/>
            <a:chExt cx="1768445" cy="2315126"/>
          </a:xfrm>
        </p:grpSpPr>
        <p:grpSp>
          <p:nvGrpSpPr>
            <p:cNvPr id="5" name="Group 5"/>
            <p:cNvGrpSpPr/>
            <p:nvPr/>
          </p:nvGrpSpPr>
          <p:grpSpPr>
            <a:xfrm rot="-5400000">
              <a:off x="-249988" y="296692"/>
              <a:ext cx="2315126" cy="1721741"/>
              <a:chOff x="0" y="0"/>
              <a:chExt cx="1532476" cy="113969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532476" cy="1139691"/>
              </a:xfrm>
              <a:custGeom>
                <a:avLst/>
                <a:gdLst/>
                <a:ahLst/>
                <a:cxnLst/>
                <a:rect l="l" t="t" r="r" b="b"/>
                <a:pathLst>
                  <a:path w="1532476" h="1139691">
                    <a:moveTo>
                      <a:pt x="227396" y="0"/>
                    </a:moveTo>
                    <a:lnTo>
                      <a:pt x="1305080" y="0"/>
                    </a:lnTo>
                    <a:cubicBezTo>
                      <a:pt x="1430667" y="0"/>
                      <a:pt x="1532476" y="101809"/>
                      <a:pt x="1532476" y="227396"/>
                    </a:cubicBezTo>
                    <a:lnTo>
                      <a:pt x="1532476" y="912295"/>
                    </a:lnTo>
                    <a:cubicBezTo>
                      <a:pt x="1532476" y="972604"/>
                      <a:pt x="1508518" y="1030443"/>
                      <a:pt x="1465873" y="1073088"/>
                    </a:cubicBezTo>
                    <a:cubicBezTo>
                      <a:pt x="1423228" y="1115733"/>
                      <a:pt x="1365389" y="1139691"/>
                      <a:pt x="1305080" y="1139691"/>
                    </a:cubicBezTo>
                    <a:lnTo>
                      <a:pt x="227396" y="1139691"/>
                    </a:lnTo>
                    <a:cubicBezTo>
                      <a:pt x="167087" y="1139691"/>
                      <a:pt x="109248" y="1115733"/>
                      <a:pt x="66603" y="1073088"/>
                    </a:cubicBezTo>
                    <a:cubicBezTo>
                      <a:pt x="23958" y="1030443"/>
                      <a:pt x="0" y="972604"/>
                      <a:pt x="0" y="912295"/>
                    </a:cubicBezTo>
                    <a:lnTo>
                      <a:pt x="0" y="227396"/>
                    </a:lnTo>
                    <a:cubicBezTo>
                      <a:pt x="0" y="167087"/>
                      <a:pt x="23958" y="109248"/>
                      <a:pt x="66603" y="66603"/>
                    </a:cubicBezTo>
                    <a:cubicBezTo>
                      <a:pt x="109248" y="23958"/>
                      <a:pt x="167087" y="0"/>
                      <a:pt x="227396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1532476" cy="11777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72943" y="1605607"/>
              <a:ext cx="1605699" cy="510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8"/>
                </a:lnSpc>
                <a:spcBef>
                  <a:spcPct val="0"/>
                </a:spcBef>
              </a:pPr>
              <a:r>
                <a:rPr lang="en-US" sz="2241">
                  <a:solidFill>
                    <a:srgbClr val="F8F3DD"/>
                  </a:soli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STUDIOS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68229"/>
              <a:ext cx="1751585" cy="1258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554"/>
                </a:lnSpc>
              </a:pPr>
              <a:r>
                <a:rPr lang="en-US" sz="5395" spc="-302">
                  <a:gradFill>
                    <a:gsLst>
                      <a:gs pos="0">
                        <a:srgbClr val="FEFFFF">
                          <a:alpha val="100000"/>
                        </a:srgbClr>
                      </a:gs>
                      <a:gs pos="100000">
                        <a:srgbClr val="C5C5C5">
                          <a:alpha val="100000"/>
                        </a:srgbClr>
                      </a:gs>
                    </a:gsLst>
                    <a:lin ang="5400000"/>
                  </a:gra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ARK</a:t>
              </a:r>
            </a:p>
          </p:txBody>
        </p:sp>
        <p:sp>
          <p:nvSpPr>
            <p:cNvPr id="10" name="Freeform 10"/>
            <p:cNvSpPr/>
            <p:nvPr/>
          </p:nvSpPr>
          <p:spPr>
            <a:xfrm rot="-10800000">
              <a:off x="498517" y="256975"/>
              <a:ext cx="818115" cy="400876"/>
            </a:xfrm>
            <a:custGeom>
              <a:avLst/>
              <a:gdLst/>
              <a:ahLst/>
              <a:cxnLst/>
              <a:rect l="l" t="t" r="r" b="b"/>
              <a:pathLst>
                <a:path w="818115" h="400876">
                  <a:moveTo>
                    <a:pt x="0" y="0"/>
                  </a:moveTo>
                  <a:lnTo>
                    <a:pt x="818115" y="0"/>
                  </a:lnTo>
                  <a:lnTo>
                    <a:pt x="818115" y="400876"/>
                  </a:lnTo>
                  <a:lnTo>
                    <a:pt x="0" y="400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CA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3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1950" y="263815"/>
            <a:ext cx="1326334" cy="1736345"/>
            <a:chOff x="0" y="0"/>
            <a:chExt cx="1768445" cy="2315126"/>
          </a:xfrm>
        </p:grpSpPr>
        <p:grpSp>
          <p:nvGrpSpPr>
            <p:cNvPr id="3" name="Group 3"/>
            <p:cNvGrpSpPr/>
            <p:nvPr/>
          </p:nvGrpSpPr>
          <p:grpSpPr>
            <a:xfrm rot="-5400000">
              <a:off x="-249988" y="296692"/>
              <a:ext cx="2315126" cy="1721741"/>
              <a:chOff x="0" y="0"/>
              <a:chExt cx="1532476" cy="113969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532476" cy="1139691"/>
              </a:xfrm>
              <a:custGeom>
                <a:avLst/>
                <a:gdLst/>
                <a:ahLst/>
                <a:cxnLst/>
                <a:rect l="l" t="t" r="r" b="b"/>
                <a:pathLst>
                  <a:path w="1532476" h="1139691">
                    <a:moveTo>
                      <a:pt x="227396" y="0"/>
                    </a:moveTo>
                    <a:lnTo>
                      <a:pt x="1305080" y="0"/>
                    </a:lnTo>
                    <a:cubicBezTo>
                      <a:pt x="1430667" y="0"/>
                      <a:pt x="1532476" y="101809"/>
                      <a:pt x="1532476" y="227396"/>
                    </a:cubicBezTo>
                    <a:lnTo>
                      <a:pt x="1532476" y="912295"/>
                    </a:lnTo>
                    <a:cubicBezTo>
                      <a:pt x="1532476" y="972604"/>
                      <a:pt x="1508518" y="1030443"/>
                      <a:pt x="1465873" y="1073088"/>
                    </a:cubicBezTo>
                    <a:cubicBezTo>
                      <a:pt x="1423228" y="1115733"/>
                      <a:pt x="1365389" y="1139691"/>
                      <a:pt x="1305080" y="1139691"/>
                    </a:cubicBezTo>
                    <a:lnTo>
                      <a:pt x="227396" y="1139691"/>
                    </a:lnTo>
                    <a:cubicBezTo>
                      <a:pt x="167087" y="1139691"/>
                      <a:pt x="109248" y="1115733"/>
                      <a:pt x="66603" y="1073088"/>
                    </a:cubicBezTo>
                    <a:cubicBezTo>
                      <a:pt x="23958" y="1030443"/>
                      <a:pt x="0" y="972604"/>
                      <a:pt x="0" y="912295"/>
                    </a:cubicBezTo>
                    <a:lnTo>
                      <a:pt x="0" y="227396"/>
                    </a:lnTo>
                    <a:cubicBezTo>
                      <a:pt x="0" y="167087"/>
                      <a:pt x="23958" y="109248"/>
                      <a:pt x="66603" y="66603"/>
                    </a:cubicBezTo>
                    <a:cubicBezTo>
                      <a:pt x="109248" y="23958"/>
                      <a:pt x="167087" y="0"/>
                      <a:pt x="227396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532476" cy="11777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72943" y="1605607"/>
              <a:ext cx="1605699" cy="510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8"/>
                </a:lnSpc>
                <a:spcBef>
                  <a:spcPct val="0"/>
                </a:spcBef>
              </a:pPr>
              <a:r>
                <a:rPr lang="en-US" sz="2241">
                  <a:solidFill>
                    <a:srgbClr val="F8F3DD"/>
                  </a:soli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STUDIOS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68229"/>
              <a:ext cx="1751585" cy="1258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554"/>
                </a:lnSpc>
              </a:pPr>
              <a:r>
                <a:rPr lang="en-US" sz="5395" spc="-302">
                  <a:gradFill>
                    <a:gsLst>
                      <a:gs pos="0">
                        <a:srgbClr val="FEFFFF">
                          <a:alpha val="100000"/>
                        </a:srgbClr>
                      </a:gs>
                      <a:gs pos="100000">
                        <a:srgbClr val="C5C5C5">
                          <a:alpha val="100000"/>
                        </a:srgbClr>
                      </a:gs>
                    </a:gsLst>
                    <a:lin ang="5400000"/>
                  </a:gra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ARK</a:t>
              </a:r>
            </a:p>
          </p:txBody>
        </p:sp>
        <p:sp>
          <p:nvSpPr>
            <p:cNvPr id="8" name="Freeform 8"/>
            <p:cNvSpPr/>
            <p:nvPr/>
          </p:nvSpPr>
          <p:spPr>
            <a:xfrm rot="-10800000">
              <a:off x="498517" y="256975"/>
              <a:ext cx="818115" cy="400876"/>
            </a:xfrm>
            <a:custGeom>
              <a:avLst/>
              <a:gdLst/>
              <a:ahLst/>
              <a:cxnLst/>
              <a:rect l="l" t="t" r="r" b="b"/>
              <a:pathLst>
                <a:path w="818115" h="400876">
                  <a:moveTo>
                    <a:pt x="0" y="0"/>
                  </a:moveTo>
                  <a:lnTo>
                    <a:pt x="818115" y="0"/>
                  </a:lnTo>
                  <a:lnTo>
                    <a:pt x="818115" y="400876"/>
                  </a:lnTo>
                  <a:lnTo>
                    <a:pt x="0" y="400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565437" y="59628"/>
            <a:ext cx="13157125" cy="142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98"/>
              </a:lnSpc>
              <a:spcBef>
                <a:spcPct val="0"/>
              </a:spcBef>
            </a:pPr>
            <a:r>
              <a:rPr lang="en-US" sz="6000" b="1" u="none" strike="noStrike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PRÉVISIONS FINANCIÈRES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9935" y="2018552"/>
            <a:ext cx="14306068" cy="906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76"/>
              </a:lnSpc>
              <a:spcBef>
                <a:spcPct val="0"/>
              </a:spcBef>
            </a:pPr>
            <a:r>
              <a:rPr lang="en-US" sz="3846" b="1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EVOLUTIO</a:t>
            </a:r>
            <a:r>
              <a:rPr lang="en-US" sz="3846" b="1" u="none" strike="noStrike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N DES REVENUS PAR TRIMESTRE 2027–2028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3078C91-D6F9-E683-8743-E3A547552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103" y="3482312"/>
            <a:ext cx="15521792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3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1950" y="263815"/>
            <a:ext cx="1326334" cy="1736345"/>
            <a:chOff x="0" y="0"/>
            <a:chExt cx="1768445" cy="2315126"/>
          </a:xfrm>
        </p:grpSpPr>
        <p:grpSp>
          <p:nvGrpSpPr>
            <p:cNvPr id="3" name="Group 3"/>
            <p:cNvGrpSpPr/>
            <p:nvPr/>
          </p:nvGrpSpPr>
          <p:grpSpPr>
            <a:xfrm rot="-5400000">
              <a:off x="-249988" y="296692"/>
              <a:ext cx="2315126" cy="1721741"/>
              <a:chOff x="0" y="0"/>
              <a:chExt cx="1532476" cy="113969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532476" cy="1139691"/>
              </a:xfrm>
              <a:custGeom>
                <a:avLst/>
                <a:gdLst/>
                <a:ahLst/>
                <a:cxnLst/>
                <a:rect l="l" t="t" r="r" b="b"/>
                <a:pathLst>
                  <a:path w="1532476" h="1139691">
                    <a:moveTo>
                      <a:pt x="227396" y="0"/>
                    </a:moveTo>
                    <a:lnTo>
                      <a:pt x="1305080" y="0"/>
                    </a:lnTo>
                    <a:cubicBezTo>
                      <a:pt x="1430667" y="0"/>
                      <a:pt x="1532476" y="101809"/>
                      <a:pt x="1532476" y="227396"/>
                    </a:cubicBezTo>
                    <a:lnTo>
                      <a:pt x="1532476" y="912295"/>
                    </a:lnTo>
                    <a:cubicBezTo>
                      <a:pt x="1532476" y="972604"/>
                      <a:pt x="1508518" y="1030443"/>
                      <a:pt x="1465873" y="1073088"/>
                    </a:cubicBezTo>
                    <a:cubicBezTo>
                      <a:pt x="1423228" y="1115733"/>
                      <a:pt x="1365389" y="1139691"/>
                      <a:pt x="1305080" y="1139691"/>
                    </a:cubicBezTo>
                    <a:lnTo>
                      <a:pt x="227396" y="1139691"/>
                    </a:lnTo>
                    <a:cubicBezTo>
                      <a:pt x="167087" y="1139691"/>
                      <a:pt x="109248" y="1115733"/>
                      <a:pt x="66603" y="1073088"/>
                    </a:cubicBezTo>
                    <a:cubicBezTo>
                      <a:pt x="23958" y="1030443"/>
                      <a:pt x="0" y="972604"/>
                      <a:pt x="0" y="912295"/>
                    </a:cubicBezTo>
                    <a:lnTo>
                      <a:pt x="0" y="227396"/>
                    </a:lnTo>
                    <a:cubicBezTo>
                      <a:pt x="0" y="167087"/>
                      <a:pt x="23958" y="109248"/>
                      <a:pt x="66603" y="66603"/>
                    </a:cubicBezTo>
                    <a:cubicBezTo>
                      <a:pt x="109248" y="23958"/>
                      <a:pt x="167087" y="0"/>
                      <a:pt x="227396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532476" cy="11777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72943" y="1605607"/>
              <a:ext cx="1605699" cy="510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8"/>
                </a:lnSpc>
                <a:spcBef>
                  <a:spcPct val="0"/>
                </a:spcBef>
              </a:pPr>
              <a:r>
                <a:rPr lang="en-US" sz="2241">
                  <a:solidFill>
                    <a:srgbClr val="F8F3DD"/>
                  </a:soli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STUDIOS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68229"/>
              <a:ext cx="1751585" cy="1258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554"/>
                </a:lnSpc>
              </a:pPr>
              <a:r>
                <a:rPr lang="en-US" sz="5395" spc="-302">
                  <a:gradFill>
                    <a:gsLst>
                      <a:gs pos="0">
                        <a:srgbClr val="FEFFFF">
                          <a:alpha val="100000"/>
                        </a:srgbClr>
                      </a:gs>
                      <a:gs pos="100000">
                        <a:srgbClr val="C5C5C5">
                          <a:alpha val="100000"/>
                        </a:srgbClr>
                      </a:gs>
                    </a:gsLst>
                    <a:lin ang="5400000"/>
                  </a:gra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ARK</a:t>
              </a:r>
            </a:p>
          </p:txBody>
        </p:sp>
        <p:sp>
          <p:nvSpPr>
            <p:cNvPr id="8" name="Freeform 8"/>
            <p:cNvSpPr/>
            <p:nvPr/>
          </p:nvSpPr>
          <p:spPr>
            <a:xfrm rot="-10800000">
              <a:off x="498517" y="256975"/>
              <a:ext cx="818115" cy="400876"/>
            </a:xfrm>
            <a:custGeom>
              <a:avLst/>
              <a:gdLst/>
              <a:ahLst/>
              <a:cxnLst/>
              <a:rect l="l" t="t" r="r" b="b"/>
              <a:pathLst>
                <a:path w="818115" h="400876">
                  <a:moveTo>
                    <a:pt x="0" y="0"/>
                  </a:moveTo>
                  <a:lnTo>
                    <a:pt x="818115" y="0"/>
                  </a:lnTo>
                  <a:lnTo>
                    <a:pt x="818115" y="400876"/>
                  </a:lnTo>
                  <a:lnTo>
                    <a:pt x="0" y="400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565437" y="59628"/>
            <a:ext cx="13157125" cy="142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98"/>
              </a:lnSpc>
              <a:spcBef>
                <a:spcPct val="0"/>
              </a:spcBef>
            </a:pPr>
            <a:r>
              <a:rPr lang="en-US" sz="6000" b="1" u="none" strike="noStrike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PRÉVISIONS FINANCIÈRES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9935" y="2018552"/>
            <a:ext cx="14306068" cy="906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76"/>
              </a:lnSpc>
              <a:spcBef>
                <a:spcPct val="0"/>
              </a:spcBef>
            </a:pPr>
            <a:r>
              <a:rPr lang="en-US" sz="3846" b="1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 FLUX</a:t>
            </a:r>
            <a:r>
              <a:rPr lang="en-US" sz="3846" b="1" u="none" strike="noStrike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 DE TRÉSORERIE (CASH FLOW 2027–2028)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88529" y="3903099"/>
            <a:ext cx="8655471" cy="608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20"/>
              </a:lnSpc>
              <a:spcBef>
                <a:spcPct val="0"/>
              </a:spcBef>
            </a:pPr>
            <a:r>
              <a:rPr lang="en-US" sz="2581" b="1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 FLUX</a:t>
            </a:r>
            <a:r>
              <a:rPr lang="en-US" sz="2581" b="1" u="none" strike="noStrike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 DE TRÉSORERIE (CASH FLOW 2027)EN CAD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39649" y="3903099"/>
            <a:ext cx="10206781" cy="597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01"/>
              </a:lnSpc>
              <a:spcBef>
                <a:spcPct val="0"/>
              </a:spcBef>
            </a:pPr>
            <a:r>
              <a:rPr lang="en-US" sz="2524" b="1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 FLUX</a:t>
            </a:r>
            <a:r>
              <a:rPr lang="en-US" sz="2524" b="1" u="none" strike="noStrike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 DE TRÉSORERIE (CASH FLOW 2028)EN CAD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6E3F5DF6-20E6-2A57-420B-D3463B5D37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3" y="4644834"/>
            <a:ext cx="17442592" cy="41741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3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1950" y="263815"/>
            <a:ext cx="1326334" cy="1736345"/>
            <a:chOff x="0" y="0"/>
            <a:chExt cx="1768445" cy="2315126"/>
          </a:xfrm>
        </p:grpSpPr>
        <p:grpSp>
          <p:nvGrpSpPr>
            <p:cNvPr id="3" name="Group 3"/>
            <p:cNvGrpSpPr/>
            <p:nvPr/>
          </p:nvGrpSpPr>
          <p:grpSpPr>
            <a:xfrm rot="-5400000">
              <a:off x="-249988" y="296692"/>
              <a:ext cx="2315126" cy="1721741"/>
              <a:chOff x="0" y="0"/>
              <a:chExt cx="1532476" cy="113969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532476" cy="1139691"/>
              </a:xfrm>
              <a:custGeom>
                <a:avLst/>
                <a:gdLst/>
                <a:ahLst/>
                <a:cxnLst/>
                <a:rect l="l" t="t" r="r" b="b"/>
                <a:pathLst>
                  <a:path w="1532476" h="1139691">
                    <a:moveTo>
                      <a:pt x="227396" y="0"/>
                    </a:moveTo>
                    <a:lnTo>
                      <a:pt x="1305080" y="0"/>
                    </a:lnTo>
                    <a:cubicBezTo>
                      <a:pt x="1430667" y="0"/>
                      <a:pt x="1532476" y="101809"/>
                      <a:pt x="1532476" y="227396"/>
                    </a:cubicBezTo>
                    <a:lnTo>
                      <a:pt x="1532476" y="912295"/>
                    </a:lnTo>
                    <a:cubicBezTo>
                      <a:pt x="1532476" y="972604"/>
                      <a:pt x="1508518" y="1030443"/>
                      <a:pt x="1465873" y="1073088"/>
                    </a:cubicBezTo>
                    <a:cubicBezTo>
                      <a:pt x="1423228" y="1115733"/>
                      <a:pt x="1365389" y="1139691"/>
                      <a:pt x="1305080" y="1139691"/>
                    </a:cubicBezTo>
                    <a:lnTo>
                      <a:pt x="227396" y="1139691"/>
                    </a:lnTo>
                    <a:cubicBezTo>
                      <a:pt x="167087" y="1139691"/>
                      <a:pt x="109248" y="1115733"/>
                      <a:pt x="66603" y="1073088"/>
                    </a:cubicBezTo>
                    <a:cubicBezTo>
                      <a:pt x="23958" y="1030443"/>
                      <a:pt x="0" y="972604"/>
                      <a:pt x="0" y="912295"/>
                    </a:cubicBezTo>
                    <a:lnTo>
                      <a:pt x="0" y="227396"/>
                    </a:lnTo>
                    <a:cubicBezTo>
                      <a:pt x="0" y="167087"/>
                      <a:pt x="23958" y="109248"/>
                      <a:pt x="66603" y="66603"/>
                    </a:cubicBezTo>
                    <a:cubicBezTo>
                      <a:pt x="109248" y="23958"/>
                      <a:pt x="167087" y="0"/>
                      <a:pt x="227396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532476" cy="11777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72943" y="1605607"/>
              <a:ext cx="1605699" cy="510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8"/>
                </a:lnSpc>
                <a:spcBef>
                  <a:spcPct val="0"/>
                </a:spcBef>
              </a:pPr>
              <a:r>
                <a:rPr lang="en-US" sz="2241">
                  <a:solidFill>
                    <a:srgbClr val="F8F3DD"/>
                  </a:soli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STUDIOS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68229"/>
              <a:ext cx="1751585" cy="1258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554"/>
                </a:lnSpc>
              </a:pPr>
              <a:r>
                <a:rPr lang="en-US" sz="5395" spc="-302">
                  <a:gradFill>
                    <a:gsLst>
                      <a:gs pos="0">
                        <a:srgbClr val="FEFFFF">
                          <a:alpha val="100000"/>
                        </a:srgbClr>
                      </a:gs>
                      <a:gs pos="100000">
                        <a:srgbClr val="C5C5C5">
                          <a:alpha val="100000"/>
                        </a:srgbClr>
                      </a:gs>
                    </a:gsLst>
                    <a:lin ang="5400000"/>
                  </a:gra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ARK</a:t>
              </a:r>
            </a:p>
          </p:txBody>
        </p:sp>
        <p:sp>
          <p:nvSpPr>
            <p:cNvPr id="8" name="Freeform 8"/>
            <p:cNvSpPr/>
            <p:nvPr/>
          </p:nvSpPr>
          <p:spPr>
            <a:xfrm rot="-10800000">
              <a:off x="498517" y="256975"/>
              <a:ext cx="818115" cy="400876"/>
            </a:xfrm>
            <a:custGeom>
              <a:avLst/>
              <a:gdLst/>
              <a:ahLst/>
              <a:cxnLst/>
              <a:rect l="l" t="t" r="r" b="b"/>
              <a:pathLst>
                <a:path w="818115" h="400876">
                  <a:moveTo>
                    <a:pt x="0" y="0"/>
                  </a:moveTo>
                  <a:lnTo>
                    <a:pt x="818115" y="0"/>
                  </a:lnTo>
                  <a:lnTo>
                    <a:pt x="818115" y="400876"/>
                  </a:lnTo>
                  <a:lnTo>
                    <a:pt x="0" y="400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565437" y="212028"/>
            <a:ext cx="13884336" cy="2110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19"/>
              </a:lnSpc>
              <a:spcBef>
                <a:spcPct val="0"/>
              </a:spcBef>
            </a:pPr>
            <a:r>
              <a:rPr lang="en-US" sz="4200" b="1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BE</a:t>
            </a:r>
            <a:r>
              <a:rPr lang="en-US" sz="4200" b="1" u="none" strike="noStrike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SOINS DE FINANCEMENT &amp; PLAN DE CROISSANCE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1950" y="2594174"/>
            <a:ext cx="15204088" cy="510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19"/>
              </a:lnSpc>
              <a:spcBef>
                <a:spcPct val="0"/>
              </a:spcBef>
            </a:pPr>
            <a:r>
              <a:rPr lang="en-US" sz="2200" b="1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BE</a:t>
            </a:r>
            <a:r>
              <a:rPr lang="en-US" sz="2200" b="1" u="none" strike="noStrike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SOINS DE FINANCEMENT &amp; PLAN DE CROISSANCE 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175" y="1423230"/>
            <a:ext cx="10795487" cy="9284248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1392305" y="4560871"/>
            <a:ext cx="7937877" cy="2350628"/>
            <a:chOff x="0" y="0"/>
            <a:chExt cx="2810372" cy="8322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10372" cy="832230"/>
            </a:xfrm>
            <a:custGeom>
              <a:avLst/>
              <a:gdLst/>
              <a:ahLst/>
              <a:cxnLst/>
              <a:rect l="l" t="t" r="r" b="b"/>
              <a:pathLst>
                <a:path w="2810372" h="832230">
                  <a:moveTo>
                    <a:pt x="49741" y="0"/>
                  </a:moveTo>
                  <a:lnTo>
                    <a:pt x="2760631" y="0"/>
                  </a:lnTo>
                  <a:cubicBezTo>
                    <a:pt x="2773823" y="0"/>
                    <a:pt x="2786475" y="5241"/>
                    <a:pt x="2795803" y="14569"/>
                  </a:cubicBezTo>
                  <a:cubicBezTo>
                    <a:pt x="2805131" y="23897"/>
                    <a:pt x="2810372" y="36549"/>
                    <a:pt x="2810372" y="49741"/>
                  </a:cubicBezTo>
                  <a:lnTo>
                    <a:pt x="2810372" y="782489"/>
                  </a:lnTo>
                  <a:cubicBezTo>
                    <a:pt x="2810372" y="795681"/>
                    <a:pt x="2805131" y="808333"/>
                    <a:pt x="2795803" y="817661"/>
                  </a:cubicBezTo>
                  <a:cubicBezTo>
                    <a:pt x="2786475" y="826989"/>
                    <a:pt x="2773823" y="832230"/>
                    <a:pt x="2760631" y="832230"/>
                  </a:cubicBezTo>
                  <a:lnTo>
                    <a:pt x="49741" y="832230"/>
                  </a:lnTo>
                  <a:cubicBezTo>
                    <a:pt x="36549" y="832230"/>
                    <a:pt x="23897" y="826989"/>
                    <a:pt x="14569" y="817661"/>
                  </a:cubicBezTo>
                  <a:cubicBezTo>
                    <a:pt x="5241" y="808333"/>
                    <a:pt x="0" y="795681"/>
                    <a:pt x="0" y="782489"/>
                  </a:cubicBezTo>
                  <a:lnTo>
                    <a:pt x="0" y="49741"/>
                  </a:lnTo>
                  <a:cubicBezTo>
                    <a:pt x="0" y="36549"/>
                    <a:pt x="5241" y="23897"/>
                    <a:pt x="14569" y="14569"/>
                  </a:cubicBezTo>
                  <a:cubicBezTo>
                    <a:pt x="23897" y="5241"/>
                    <a:pt x="36549" y="0"/>
                    <a:pt x="49741" y="0"/>
                  </a:cubicBezTo>
                  <a:close/>
                </a:path>
              </a:pathLst>
            </a:custGeom>
            <a:solidFill>
              <a:srgbClr val="68523F"/>
            </a:solidFill>
          </p:spPr>
          <p:txBody>
            <a:bodyPr/>
            <a:lstStyle/>
            <a:p>
              <a:endParaRPr lang="fr-C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10372" cy="870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49418" y="5187446"/>
            <a:ext cx="7223652" cy="1363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5791" lvl="1" indent="-277896" algn="l">
              <a:lnSpc>
                <a:spcPts val="3604"/>
              </a:lnSpc>
              <a:buFont typeface="Arial"/>
              <a:buChar char="•"/>
            </a:pPr>
            <a:r>
              <a:rPr lang="en-US" sz="2574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Apport Personnel :</a:t>
            </a:r>
            <a:r>
              <a:rPr lang="en-US" sz="2574" b="1">
                <a:solidFill>
                  <a:srgbClr val="F8F3D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652 $</a:t>
            </a:r>
          </a:p>
          <a:p>
            <a:pPr marL="555791" lvl="1" indent="-277896" algn="l">
              <a:lnSpc>
                <a:spcPts val="3604"/>
              </a:lnSpc>
              <a:buFont typeface="Arial"/>
              <a:buChar char="•"/>
            </a:pPr>
            <a:r>
              <a:rPr lang="en-US" sz="2574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Demande de Financement Initial : </a:t>
            </a:r>
            <a:r>
              <a:rPr lang="en-US" sz="2574" b="1">
                <a:solidFill>
                  <a:srgbClr val="F8F3D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5 000 $</a:t>
            </a:r>
          </a:p>
          <a:p>
            <a:pPr algn="l">
              <a:lnSpc>
                <a:spcPts val="3604"/>
              </a:lnSpc>
            </a:pPr>
            <a:endParaRPr lang="en-US" sz="2574" b="1">
              <a:solidFill>
                <a:srgbClr val="F8F3DD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3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77362" y="2520315"/>
            <a:ext cx="5246370" cy="524637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761" r="-12761"/>
              </a:stretch>
            </a:blipFill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092815" y="2520315"/>
            <a:ext cx="5246370" cy="524637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572000" y="61848"/>
            <a:ext cx="9144000" cy="141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98"/>
              </a:lnSpc>
              <a:spcBef>
                <a:spcPct val="0"/>
              </a:spcBef>
            </a:pPr>
            <a:r>
              <a:rPr lang="en-US" sz="6000" b="1" u="none" strike="noStrike">
                <a:solidFill>
                  <a:srgbClr val="F8F3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EQUIPES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32668" y="7700010"/>
            <a:ext cx="273575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Bawa Nathan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82488" y="7956868"/>
            <a:ext cx="28670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8F3DD"/>
                </a:solidFill>
                <a:latin typeface="Canva Sans"/>
                <a:ea typeface="Canva Sans"/>
                <a:cs typeface="Canva Sans"/>
                <a:sym typeface="Canva Sans"/>
              </a:rPr>
              <a:t>Equipe Genial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91950" y="263815"/>
            <a:ext cx="1326334" cy="1736345"/>
            <a:chOff x="0" y="0"/>
            <a:chExt cx="1768445" cy="2315126"/>
          </a:xfrm>
        </p:grpSpPr>
        <p:grpSp>
          <p:nvGrpSpPr>
            <p:cNvPr id="10" name="Group 10"/>
            <p:cNvGrpSpPr/>
            <p:nvPr/>
          </p:nvGrpSpPr>
          <p:grpSpPr>
            <a:xfrm rot="-5400000">
              <a:off x="-249988" y="296692"/>
              <a:ext cx="2315126" cy="1721741"/>
              <a:chOff x="0" y="0"/>
              <a:chExt cx="1532476" cy="113969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32476" cy="1139691"/>
              </a:xfrm>
              <a:custGeom>
                <a:avLst/>
                <a:gdLst/>
                <a:ahLst/>
                <a:cxnLst/>
                <a:rect l="l" t="t" r="r" b="b"/>
                <a:pathLst>
                  <a:path w="1532476" h="1139691">
                    <a:moveTo>
                      <a:pt x="227396" y="0"/>
                    </a:moveTo>
                    <a:lnTo>
                      <a:pt x="1305080" y="0"/>
                    </a:lnTo>
                    <a:cubicBezTo>
                      <a:pt x="1430667" y="0"/>
                      <a:pt x="1532476" y="101809"/>
                      <a:pt x="1532476" y="227396"/>
                    </a:cubicBezTo>
                    <a:lnTo>
                      <a:pt x="1532476" y="912295"/>
                    </a:lnTo>
                    <a:cubicBezTo>
                      <a:pt x="1532476" y="972604"/>
                      <a:pt x="1508518" y="1030443"/>
                      <a:pt x="1465873" y="1073088"/>
                    </a:cubicBezTo>
                    <a:cubicBezTo>
                      <a:pt x="1423228" y="1115733"/>
                      <a:pt x="1365389" y="1139691"/>
                      <a:pt x="1305080" y="1139691"/>
                    </a:cubicBezTo>
                    <a:lnTo>
                      <a:pt x="227396" y="1139691"/>
                    </a:lnTo>
                    <a:cubicBezTo>
                      <a:pt x="167087" y="1139691"/>
                      <a:pt x="109248" y="1115733"/>
                      <a:pt x="66603" y="1073088"/>
                    </a:cubicBezTo>
                    <a:cubicBezTo>
                      <a:pt x="23958" y="1030443"/>
                      <a:pt x="0" y="972604"/>
                      <a:pt x="0" y="912295"/>
                    </a:cubicBezTo>
                    <a:lnTo>
                      <a:pt x="0" y="227396"/>
                    </a:lnTo>
                    <a:cubicBezTo>
                      <a:pt x="0" y="167087"/>
                      <a:pt x="23958" y="109248"/>
                      <a:pt x="66603" y="66603"/>
                    </a:cubicBezTo>
                    <a:cubicBezTo>
                      <a:pt x="109248" y="23958"/>
                      <a:pt x="167087" y="0"/>
                      <a:pt x="227396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532476" cy="11777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72943" y="1605607"/>
              <a:ext cx="1605699" cy="510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8"/>
                </a:lnSpc>
                <a:spcBef>
                  <a:spcPct val="0"/>
                </a:spcBef>
              </a:pPr>
              <a:r>
                <a:rPr lang="en-US" sz="2241">
                  <a:solidFill>
                    <a:srgbClr val="F8F3DD"/>
                  </a:soli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STUDIOS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468229"/>
              <a:ext cx="1751585" cy="1258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554"/>
                </a:lnSpc>
              </a:pPr>
              <a:r>
                <a:rPr lang="en-US" sz="5395" spc="-302">
                  <a:gradFill>
                    <a:gsLst>
                      <a:gs pos="0">
                        <a:srgbClr val="FEFFFF">
                          <a:alpha val="100000"/>
                        </a:srgbClr>
                      </a:gs>
                      <a:gs pos="100000">
                        <a:srgbClr val="C5C5C5">
                          <a:alpha val="100000"/>
                        </a:srgbClr>
                      </a:gs>
                    </a:gsLst>
                    <a:lin ang="5400000"/>
                  </a:gradFill>
                  <a:latin typeface="Barbra SemiCondensed"/>
                  <a:ea typeface="Barbra SemiCondensed"/>
                  <a:cs typeface="Barbra SemiCondensed"/>
                  <a:sym typeface="Barbra SemiCondensed"/>
                </a:rPr>
                <a:t>ARK</a:t>
              </a:r>
            </a:p>
          </p:txBody>
        </p:sp>
        <p:sp>
          <p:nvSpPr>
            <p:cNvPr id="15" name="Freeform 15"/>
            <p:cNvSpPr/>
            <p:nvPr/>
          </p:nvSpPr>
          <p:spPr>
            <a:xfrm rot="-10800000">
              <a:off x="498517" y="256975"/>
              <a:ext cx="818115" cy="400876"/>
            </a:xfrm>
            <a:custGeom>
              <a:avLst/>
              <a:gdLst/>
              <a:ahLst/>
              <a:cxnLst/>
              <a:rect l="l" t="t" r="r" b="b"/>
              <a:pathLst>
                <a:path w="818115" h="400876">
                  <a:moveTo>
                    <a:pt x="0" y="0"/>
                  </a:moveTo>
                  <a:lnTo>
                    <a:pt x="818115" y="0"/>
                  </a:lnTo>
                  <a:lnTo>
                    <a:pt x="818115" y="400876"/>
                  </a:lnTo>
                  <a:lnTo>
                    <a:pt x="0" y="400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CA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30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85AD10-8C59-A050-EEAE-F419567B4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D963B63-7E7F-40C2-4CB4-A7E7A230BD97}"/>
              </a:ext>
            </a:extLst>
          </p:cNvPr>
          <p:cNvGrpSpPr/>
          <p:nvPr/>
        </p:nvGrpSpPr>
        <p:grpSpPr>
          <a:xfrm>
            <a:off x="6826153" y="4871355"/>
            <a:ext cx="10433147" cy="3968042"/>
            <a:chOff x="0" y="0"/>
            <a:chExt cx="2621794" cy="99714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19A7AA0-B0EC-DE5D-E6C8-A2B8A3104279}"/>
                </a:ext>
              </a:extLst>
            </p:cNvPr>
            <p:cNvSpPr/>
            <p:nvPr/>
          </p:nvSpPr>
          <p:spPr>
            <a:xfrm>
              <a:off x="0" y="0"/>
              <a:ext cx="2621794" cy="997148"/>
            </a:xfrm>
            <a:custGeom>
              <a:avLst/>
              <a:gdLst/>
              <a:ahLst/>
              <a:cxnLst/>
              <a:rect l="l" t="t" r="r" b="b"/>
              <a:pathLst>
                <a:path w="2621794" h="997148">
                  <a:moveTo>
                    <a:pt x="0" y="0"/>
                  </a:moveTo>
                  <a:lnTo>
                    <a:pt x="2621794" y="0"/>
                  </a:lnTo>
                  <a:lnTo>
                    <a:pt x="2621794" y="997148"/>
                  </a:lnTo>
                  <a:lnTo>
                    <a:pt x="0" y="997148"/>
                  </a:lnTo>
                  <a:close/>
                </a:path>
              </a:pathLst>
            </a:custGeom>
            <a:blipFill>
              <a:blip r:embed="rId2"/>
              <a:stretch>
                <a:fillRect t="-147528" b="-48805"/>
              </a:stretch>
            </a:blipFill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58A1CA25-CD42-9BCA-C8E3-4F5B407D0AED}"/>
              </a:ext>
            </a:extLst>
          </p:cNvPr>
          <p:cNvSpPr txBox="1"/>
          <p:nvPr/>
        </p:nvSpPr>
        <p:spPr>
          <a:xfrm>
            <a:off x="1028700" y="1782110"/>
            <a:ext cx="14770284" cy="2374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914"/>
              </a:lnSpc>
            </a:pPr>
            <a:r>
              <a:rPr lang="en-US" sz="16571" b="1" spc="-1325">
                <a:solidFill>
                  <a:srgbClr val="F8F3DD"/>
                </a:solidFill>
                <a:latin typeface="ITC Bauhaus Bold"/>
                <a:ea typeface="ITC Bauhaus Bold"/>
                <a:cs typeface="ITC Bauhaus Bold"/>
                <a:sym typeface="ITC Bauhaus Bold"/>
              </a:rPr>
              <a:t>Arkiteks Studios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E0BFCB7-5BC4-B2E2-D154-7C67D078067D}"/>
              </a:ext>
            </a:extLst>
          </p:cNvPr>
          <p:cNvGrpSpPr/>
          <p:nvPr/>
        </p:nvGrpSpPr>
        <p:grpSpPr>
          <a:xfrm>
            <a:off x="8917874" y="3781781"/>
            <a:ext cx="8341426" cy="773808"/>
            <a:chOff x="0" y="0"/>
            <a:chExt cx="2196919" cy="20380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E9995EE-2439-EC0F-8098-988843BA03E2}"/>
                </a:ext>
              </a:extLst>
            </p:cNvPr>
            <p:cNvSpPr/>
            <p:nvPr/>
          </p:nvSpPr>
          <p:spPr>
            <a:xfrm>
              <a:off x="0" y="0"/>
              <a:ext cx="2196919" cy="203801"/>
            </a:xfrm>
            <a:custGeom>
              <a:avLst/>
              <a:gdLst/>
              <a:ahLst/>
              <a:cxnLst/>
              <a:rect l="l" t="t" r="r" b="b"/>
              <a:pathLst>
                <a:path w="2196919" h="203801">
                  <a:moveTo>
                    <a:pt x="0" y="0"/>
                  </a:moveTo>
                  <a:lnTo>
                    <a:pt x="2196919" y="0"/>
                  </a:lnTo>
                  <a:lnTo>
                    <a:pt x="2196919" y="203801"/>
                  </a:lnTo>
                  <a:lnTo>
                    <a:pt x="0" y="203801"/>
                  </a:lnTo>
                  <a:close/>
                </a:path>
              </a:pathLst>
            </a:custGeom>
            <a:solidFill>
              <a:srgbClr val="F8F3DD"/>
            </a:solidFill>
          </p:spPr>
          <p:txBody>
            <a:bodyPr/>
            <a:lstStyle/>
            <a:p>
              <a:endParaRPr lang="fr-CA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50EE200-5930-30C6-6CBB-F71057869B6E}"/>
                </a:ext>
              </a:extLst>
            </p:cNvPr>
            <p:cNvSpPr txBox="1"/>
            <p:nvPr/>
          </p:nvSpPr>
          <p:spPr>
            <a:xfrm>
              <a:off x="0" y="-9525"/>
              <a:ext cx="2196919" cy="2133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8B2C3DDC-B950-BE87-387D-528BA5BEC667}"/>
              </a:ext>
            </a:extLst>
          </p:cNvPr>
          <p:cNvSpPr txBox="1"/>
          <p:nvPr/>
        </p:nvSpPr>
        <p:spPr>
          <a:xfrm>
            <a:off x="1097306" y="3732693"/>
            <a:ext cx="5097081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59"/>
              </a:lnSpc>
              <a:spcBef>
                <a:spcPct val="0"/>
              </a:spcBef>
            </a:pPr>
            <a:r>
              <a:rPr lang="en-US" sz="4299" b="1" u="none" strike="noStrik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Nathan bawa 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BE12F52-22F6-266D-2BCE-721ABA5C7214}"/>
              </a:ext>
            </a:extLst>
          </p:cNvPr>
          <p:cNvSpPr txBox="1"/>
          <p:nvPr/>
        </p:nvSpPr>
        <p:spPr>
          <a:xfrm>
            <a:off x="9144000" y="3906747"/>
            <a:ext cx="773053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72"/>
              </a:lnSpc>
              <a:spcBef>
                <a:spcPct val="0"/>
              </a:spcBef>
            </a:pPr>
            <a:r>
              <a:rPr lang="en-US" sz="2977">
                <a:solidFill>
                  <a:srgbClr val="24130B"/>
                </a:solidFill>
                <a:latin typeface="ITC Bauhaus Light"/>
                <a:ea typeface="ITC Bauhaus Light"/>
                <a:cs typeface="ITC Bauhaus Light"/>
                <a:sym typeface="ITC Bauhaus Light"/>
              </a:rPr>
              <a:t> Visitez les espaces avant même qu’ils existent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D764965-5F53-6CB6-75E5-ED064CFB805A}"/>
              </a:ext>
            </a:extLst>
          </p:cNvPr>
          <p:cNvSpPr txBox="1"/>
          <p:nvPr/>
        </p:nvSpPr>
        <p:spPr>
          <a:xfrm>
            <a:off x="14696045" y="9248775"/>
            <a:ext cx="2563255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Page 01/10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8A07D4A-6A01-79DC-B75E-82CAEDE64B40}"/>
              </a:ext>
            </a:extLst>
          </p:cNvPr>
          <p:cNvGrpSpPr/>
          <p:nvPr/>
        </p:nvGrpSpPr>
        <p:grpSpPr>
          <a:xfrm rot="-5400000">
            <a:off x="793576" y="6940978"/>
            <a:ext cx="2177471" cy="1619368"/>
            <a:chOff x="0" y="0"/>
            <a:chExt cx="1532476" cy="1139691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F9DE8D0-2E84-4F82-82BC-8467AC90D33E}"/>
                </a:ext>
              </a:extLst>
            </p:cNvPr>
            <p:cNvSpPr/>
            <p:nvPr/>
          </p:nvSpPr>
          <p:spPr>
            <a:xfrm>
              <a:off x="0" y="0"/>
              <a:ext cx="1532476" cy="1139691"/>
            </a:xfrm>
            <a:custGeom>
              <a:avLst/>
              <a:gdLst/>
              <a:ahLst/>
              <a:cxnLst/>
              <a:rect l="l" t="t" r="r" b="b"/>
              <a:pathLst>
                <a:path w="1532476" h="1139691">
                  <a:moveTo>
                    <a:pt x="181329" y="0"/>
                  </a:moveTo>
                  <a:lnTo>
                    <a:pt x="1351147" y="0"/>
                  </a:lnTo>
                  <a:cubicBezTo>
                    <a:pt x="1451293" y="0"/>
                    <a:pt x="1532476" y="81184"/>
                    <a:pt x="1532476" y="181329"/>
                  </a:cubicBezTo>
                  <a:lnTo>
                    <a:pt x="1532476" y="958362"/>
                  </a:lnTo>
                  <a:cubicBezTo>
                    <a:pt x="1532476" y="1006453"/>
                    <a:pt x="1513372" y="1052575"/>
                    <a:pt x="1479366" y="1086581"/>
                  </a:cubicBezTo>
                  <a:cubicBezTo>
                    <a:pt x="1445361" y="1120586"/>
                    <a:pt x="1399239" y="1139691"/>
                    <a:pt x="1351147" y="1139691"/>
                  </a:cubicBezTo>
                  <a:lnTo>
                    <a:pt x="181329" y="1139691"/>
                  </a:lnTo>
                  <a:cubicBezTo>
                    <a:pt x="133237" y="1139691"/>
                    <a:pt x="87116" y="1120586"/>
                    <a:pt x="53110" y="1086581"/>
                  </a:cubicBezTo>
                  <a:cubicBezTo>
                    <a:pt x="19104" y="1052575"/>
                    <a:pt x="0" y="1006453"/>
                    <a:pt x="0" y="958362"/>
                  </a:cubicBezTo>
                  <a:lnTo>
                    <a:pt x="0" y="181329"/>
                  </a:lnTo>
                  <a:cubicBezTo>
                    <a:pt x="0" y="133237"/>
                    <a:pt x="19104" y="87116"/>
                    <a:pt x="53110" y="53110"/>
                  </a:cubicBezTo>
                  <a:cubicBezTo>
                    <a:pt x="87116" y="19104"/>
                    <a:pt x="133237" y="0"/>
                    <a:pt x="181329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fr-CA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A5B6F50-7B65-BDB3-D579-8A6548250494}"/>
                </a:ext>
              </a:extLst>
            </p:cNvPr>
            <p:cNvSpPr txBox="1"/>
            <p:nvPr/>
          </p:nvSpPr>
          <p:spPr>
            <a:xfrm>
              <a:off x="0" y="-38100"/>
              <a:ext cx="1532476" cy="1177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525BF6C7-5C49-1BB1-38E5-0DA49EB9FFEC}"/>
              </a:ext>
            </a:extLst>
          </p:cNvPr>
          <p:cNvSpPr txBox="1"/>
          <p:nvPr/>
        </p:nvSpPr>
        <p:spPr>
          <a:xfrm>
            <a:off x="1097306" y="8140092"/>
            <a:ext cx="1510225" cy="512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5"/>
              </a:lnSpc>
              <a:spcBef>
                <a:spcPct val="0"/>
              </a:spcBef>
            </a:pPr>
            <a:r>
              <a:rPr lang="en-US" sz="2811">
                <a:solidFill>
                  <a:srgbClr val="F8F3DD"/>
                </a:solidFill>
                <a:latin typeface="Barbra SemiCondensed"/>
                <a:ea typeface="Barbra SemiCondensed"/>
                <a:cs typeface="Barbra SemiCondensed"/>
                <a:sym typeface="Barbra SemiCondensed"/>
              </a:rPr>
              <a:t>STUDIOS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250238B-1F3C-F162-02DA-5D78E6B02CDD}"/>
              </a:ext>
            </a:extLst>
          </p:cNvPr>
          <p:cNvSpPr txBox="1"/>
          <p:nvPr/>
        </p:nvSpPr>
        <p:spPr>
          <a:xfrm>
            <a:off x="1028700" y="7064113"/>
            <a:ext cx="1647438" cy="122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3"/>
              </a:lnSpc>
            </a:pPr>
            <a:r>
              <a:rPr lang="en-US" sz="6766" spc="-378">
                <a:gradFill>
                  <a:gsLst>
                    <a:gs pos="0">
                      <a:srgbClr val="FEFFFF">
                        <a:alpha val="100000"/>
                      </a:srgbClr>
                    </a:gs>
                    <a:gs pos="100000">
                      <a:srgbClr val="C5C5C5">
                        <a:alpha val="100000"/>
                      </a:srgbClr>
                    </a:gs>
                  </a:gsLst>
                  <a:lin ang="5400000"/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ARK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F998B2F6-C279-4724-3988-D0657D0A3FE4}"/>
              </a:ext>
            </a:extLst>
          </p:cNvPr>
          <p:cNvSpPr/>
          <p:nvPr/>
        </p:nvSpPr>
        <p:spPr>
          <a:xfrm rot="-10800000">
            <a:off x="1497576" y="6903622"/>
            <a:ext cx="769470" cy="377040"/>
          </a:xfrm>
          <a:custGeom>
            <a:avLst/>
            <a:gdLst/>
            <a:ahLst/>
            <a:cxnLst/>
            <a:rect l="l" t="t" r="r" b="b"/>
            <a:pathLst>
              <a:path w="769470" h="377040">
                <a:moveTo>
                  <a:pt x="0" y="0"/>
                </a:moveTo>
                <a:lnTo>
                  <a:pt x="769470" y="0"/>
                </a:lnTo>
                <a:lnTo>
                  <a:pt x="769470" y="377041"/>
                </a:lnTo>
                <a:lnTo>
                  <a:pt x="0" y="3770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F6E6EFD4-72D2-07B2-1CE1-765BB5C83DA5}"/>
              </a:ext>
            </a:extLst>
          </p:cNvPr>
          <p:cNvSpPr/>
          <p:nvPr/>
        </p:nvSpPr>
        <p:spPr>
          <a:xfrm>
            <a:off x="2895006" y="7383690"/>
            <a:ext cx="377846" cy="377846"/>
          </a:xfrm>
          <a:custGeom>
            <a:avLst/>
            <a:gdLst/>
            <a:ahLst/>
            <a:cxnLst/>
            <a:rect l="l" t="t" r="r" b="b"/>
            <a:pathLst>
              <a:path w="377846" h="377846">
                <a:moveTo>
                  <a:pt x="0" y="0"/>
                </a:moveTo>
                <a:lnTo>
                  <a:pt x="377846" y="0"/>
                </a:lnTo>
                <a:lnTo>
                  <a:pt x="377846" y="377846"/>
                </a:lnTo>
                <a:lnTo>
                  <a:pt x="0" y="377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7590BF29-3CB0-0B82-8C4C-D068513F1909}"/>
              </a:ext>
            </a:extLst>
          </p:cNvPr>
          <p:cNvSpPr/>
          <p:nvPr/>
        </p:nvSpPr>
        <p:spPr>
          <a:xfrm>
            <a:off x="2903191" y="7820576"/>
            <a:ext cx="369661" cy="369661"/>
          </a:xfrm>
          <a:custGeom>
            <a:avLst/>
            <a:gdLst/>
            <a:ahLst/>
            <a:cxnLst/>
            <a:rect l="l" t="t" r="r" b="b"/>
            <a:pathLst>
              <a:path w="369661" h="369661">
                <a:moveTo>
                  <a:pt x="0" y="0"/>
                </a:moveTo>
                <a:lnTo>
                  <a:pt x="369661" y="0"/>
                </a:lnTo>
                <a:lnTo>
                  <a:pt x="369661" y="369661"/>
                </a:lnTo>
                <a:lnTo>
                  <a:pt x="0" y="369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3BC07CFF-E652-C4C3-509E-B8DBDF2E9413}"/>
              </a:ext>
            </a:extLst>
          </p:cNvPr>
          <p:cNvSpPr/>
          <p:nvPr/>
        </p:nvSpPr>
        <p:spPr>
          <a:xfrm>
            <a:off x="2934981" y="8318660"/>
            <a:ext cx="390637" cy="333994"/>
          </a:xfrm>
          <a:custGeom>
            <a:avLst/>
            <a:gdLst/>
            <a:ahLst/>
            <a:cxnLst/>
            <a:rect l="l" t="t" r="r" b="b"/>
            <a:pathLst>
              <a:path w="390637" h="333994">
                <a:moveTo>
                  <a:pt x="0" y="0"/>
                </a:moveTo>
                <a:lnTo>
                  <a:pt x="390637" y="0"/>
                </a:lnTo>
                <a:lnTo>
                  <a:pt x="390637" y="333995"/>
                </a:lnTo>
                <a:lnTo>
                  <a:pt x="0" y="333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A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42B692A-B4F1-DD39-20E2-B7EFDE5BB33E}"/>
              </a:ext>
            </a:extLst>
          </p:cNvPr>
          <p:cNvSpPr txBox="1"/>
          <p:nvPr/>
        </p:nvSpPr>
        <p:spPr>
          <a:xfrm>
            <a:off x="3384528" y="7386662"/>
            <a:ext cx="3222378" cy="333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arkiteks.studios@gmail.com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820D067-B783-8988-90CC-A7A400D3A997}"/>
              </a:ext>
            </a:extLst>
          </p:cNvPr>
          <p:cNvSpPr txBox="1"/>
          <p:nvPr/>
        </p:nvSpPr>
        <p:spPr>
          <a:xfrm>
            <a:off x="3384528" y="7801526"/>
            <a:ext cx="2244235" cy="330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@arkiteks.studios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C9F4DEC-1720-7DFC-6882-B3B74FC03C8F}"/>
              </a:ext>
            </a:extLst>
          </p:cNvPr>
          <p:cNvSpPr txBox="1"/>
          <p:nvPr/>
        </p:nvSpPr>
        <p:spPr>
          <a:xfrm>
            <a:off x="3414688" y="8290085"/>
            <a:ext cx="1472730" cy="333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nathan-bawa</a:t>
            </a:r>
          </a:p>
        </p:txBody>
      </p:sp>
    </p:spTree>
    <p:extLst>
      <p:ext uri="{BB962C8B-B14F-4D97-AF65-F5344CB8AC3E}">
        <p14:creationId xmlns:p14="http://schemas.microsoft.com/office/powerpoint/2010/main" val="1704783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521</Words>
  <Application>Microsoft Office PowerPoint</Application>
  <PresentationFormat>Personnalisé</PresentationFormat>
  <Paragraphs>122</Paragraphs>
  <Slides>14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8" baseType="lpstr">
      <vt:lpstr>Arial</vt:lpstr>
      <vt:lpstr>Aileron</vt:lpstr>
      <vt:lpstr>Open Sauce Heavy</vt:lpstr>
      <vt:lpstr>TT Norms</vt:lpstr>
      <vt:lpstr>TT Norms Bold</vt:lpstr>
      <vt:lpstr>Barbra SemiCondensed</vt:lpstr>
      <vt:lpstr>Canva Sans</vt:lpstr>
      <vt:lpstr>Didact Gothic</vt:lpstr>
      <vt:lpstr>Calibri</vt:lpstr>
      <vt:lpstr>Aileron Bold</vt:lpstr>
      <vt:lpstr>ITC Bauhaus Bold</vt:lpstr>
      <vt:lpstr>ITC Bauhaus Light</vt:lpstr>
      <vt:lpstr>Canva Sans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Arkiteks Studios</dc:title>
  <dc:creator>nathan bawa</dc:creator>
  <cp:lastModifiedBy>Nathan Dionzo Bawa</cp:lastModifiedBy>
  <cp:revision>4</cp:revision>
  <dcterms:created xsi:type="dcterms:W3CDTF">2006-08-16T00:00:00Z</dcterms:created>
  <dcterms:modified xsi:type="dcterms:W3CDTF">2026-09-24T20:47:21Z</dcterms:modified>
  <dc:identifier>DAHVSqxeljY</dc:identifier>
</cp:coreProperties>
</file>